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abarra Sans Heavy" charset="1" panose="00000000000000000000"/>
      <p:regular r:id="rId20"/>
    </p:embeddedFont>
    <p:embeddedFont>
      <p:font typeface="Ahamono" charset="1" panose="00000500000000000000"/>
      <p:regular r:id="rId21"/>
    </p:embeddedFont>
    <p:embeddedFont>
      <p:font typeface="Tabarra Sans" charset="1" panose="00000000000000000000"/>
      <p:regular r:id="rId22"/>
    </p:embeddedFont>
    <p:embeddedFont>
      <p:font typeface="Tabarra Sans Bold" charset="1" panose="00000000000000000000"/>
      <p:regular r:id="rId23"/>
    </p:embeddedFont>
    <p:embeddedFont>
      <p:font typeface="Architype Aubette" charset="1" panose="02000506030000020004"/>
      <p:regular r:id="rId24"/>
    </p:embeddedFont>
    <p:embeddedFont>
      <p:font typeface="Chewy" charset="1" panose="02000000000000000000"/>
      <p:regular r:id="rId25"/>
    </p:embeddedFont>
    <p:embeddedFont>
      <p:font typeface="Hey Gotcha!" charset="1" panose="00000000000000000000"/>
      <p:regular r:id="rId26"/>
    </p:embeddedFont>
    <p:embeddedFont>
      <p:font typeface="Tabarra Sans Light" charset="1" panose="00000000000000000000"/>
      <p:regular r:id="rId27"/>
    </p:embeddedFont>
    <p:embeddedFont>
      <p:font typeface="Arima" charset="1" panose="00000000000000000000"/>
      <p:regular r:id="rId28"/>
    </p:embeddedFont>
    <p:embeddedFont>
      <p:font typeface="Arima Bold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4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Relationship Id="rId3" Target="../media/image46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747789" y="-589308"/>
            <a:ext cx="9682906" cy="9428729"/>
          </a:xfrm>
          <a:custGeom>
            <a:avLst/>
            <a:gdLst/>
            <a:ahLst/>
            <a:cxnLst/>
            <a:rect r="r" b="b" t="t" l="l"/>
            <a:pathLst>
              <a:path h="9428729" w="9682906">
                <a:moveTo>
                  <a:pt x="0" y="0"/>
                </a:moveTo>
                <a:lnTo>
                  <a:pt x="9682906" y="0"/>
                </a:lnTo>
                <a:lnTo>
                  <a:pt x="9682906" y="9428729"/>
                </a:lnTo>
                <a:lnTo>
                  <a:pt x="0" y="94287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48356" y="4752482"/>
            <a:ext cx="7063294" cy="273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ANCIENT GRAIN,</a:t>
            </a:r>
          </a:p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MODERN PALATE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90408" y="943465"/>
            <a:ext cx="5188690" cy="98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</a:pPr>
            <a:r>
              <a:rPr lang="en-US" sz="6511">
                <a:solidFill>
                  <a:srgbClr val="0E2C47"/>
                </a:solidFill>
                <a:latin typeface="Ahamono"/>
                <a:ea typeface="Ahamono"/>
                <a:cs typeface="Ahamono"/>
                <a:sym typeface="Ahamono"/>
              </a:rPr>
              <a:t>SATTVAMUNCH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8356" y="7839736"/>
            <a:ext cx="7063294" cy="1033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</a:pPr>
            <a:r>
              <a:rPr lang="en-US" sz="2798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Brand Identity Presentation</a:t>
            </a:r>
          </a:p>
          <a:p>
            <a:pPr algn="l" marL="0" indent="0" lvl="0">
              <a:lnSpc>
                <a:spcPts val="3917"/>
              </a:lnSpc>
            </a:pPr>
            <a:r>
              <a:rPr lang="en-US" sz="2798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71803" y="6040327"/>
            <a:ext cx="5370055" cy="899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2442">
                <a:solidFill>
                  <a:srgbClr val="0E2C47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100% Certified Organic.</a:t>
            </a:r>
          </a:p>
          <a:p>
            <a:pPr algn="r" marL="0" indent="0" lvl="0">
              <a:lnSpc>
                <a:spcPts val="3419"/>
              </a:lnSpc>
              <a:spcBef>
                <a:spcPct val="0"/>
              </a:spcBef>
            </a:pPr>
            <a:r>
              <a:rPr lang="en-US" b="true" sz="2442">
                <a:solidFill>
                  <a:srgbClr val="0E2C47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Plastic-Free. Premium.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8356" y="818653"/>
            <a:ext cx="735458" cy="1235138"/>
          </a:xfrm>
          <a:custGeom>
            <a:avLst/>
            <a:gdLst/>
            <a:ahLst/>
            <a:cxnLst/>
            <a:rect r="r" b="b" t="t" l="l"/>
            <a:pathLst>
              <a:path h="1235138" w="735458">
                <a:moveTo>
                  <a:pt x="0" y="0"/>
                </a:moveTo>
                <a:lnTo>
                  <a:pt x="735458" y="0"/>
                </a:lnTo>
                <a:lnTo>
                  <a:pt x="735458" y="1235138"/>
                </a:lnTo>
                <a:lnTo>
                  <a:pt x="0" y="12351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4841" t="-21109" r="-72871" b="-2639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-1221158" y="5254427"/>
            <a:ext cx="5719087" cy="5747826"/>
          </a:xfrm>
          <a:custGeom>
            <a:avLst/>
            <a:gdLst/>
            <a:ahLst/>
            <a:cxnLst/>
            <a:rect r="r" b="b" t="t" l="l"/>
            <a:pathLst>
              <a:path h="5747826" w="5719087">
                <a:moveTo>
                  <a:pt x="0" y="0"/>
                </a:moveTo>
                <a:lnTo>
                  <a:pt x="5719086" y="0"/>
                </a:lnTo>
                <a:lnTo>
                  <a:pt x="5719086" y="5747826"/>
                </a:lnTo>
                <a:lnTo>
                  <a:pt x="0" y="5747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221158" y="-715253"/>
            <a:ext cx="5719087" cy="5747826"/>
          </a:xfrm>
          <a:custGeom>
            <a:avLst/>
            <a:gdLst/>
            <a:ahLst/>
            <a:cxnLst/>
            <a:rect r="r" b="b" t="t" l="l"/>
            <a:pathLst>
              <a:path h="5747826" w="5719087">
                <a:moveTo>
                  <a:pt x="0" y="0"/>
                </a:moveTo>
                <a:lnTo>
                  <a:pt x="5719086" y="0"/>
                </a:lnTo>
                <a:lnTo>
                  <a:pt x="5719086" y="5747826"/>
                </a:lnTo>
                <a:lnTo>
                  <a:pt x="0" y="57478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12353" y="855600"/>
            <a:ext cx="11106299" cy="3595499"/>
            <a:chOff x="0" y="0"/>
            <a:chExt cx="1720656" cy="5570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20656" cy="557037"/>
            </a:xfrm>
            <a:custGeom>
              <a:avLst/>
              <a:gdLst/>
              <a:ahLst/>
              <a:cxnLst/>
              <a:rect r="r" b="b" t="t" l="l"/>
              <a:pathLst>
                <a:path h="557037" w="1720656">
                  <a:moveTo>
                    <a:pt x="27883" y="0"/>
                  </a:moveTo>
                  <a:lnTo>
                    <a:pt x="1692773" y="0"/>
                  </a:lnTo>
                  <a:cubicBezTo>
                    <a:pt x="1700169" y="0"/>
                    <a:pt x="1707261" y="2938"/>
                    <a:pt x="1712490" y="8167"/>
                  </a:cubicBezTo>
                  <a:cubicBezTo>
                    <a:pt x="1717719" y="13396"/>
                    <a:pt x="1720656" y="20488"/>
                    <a:pt x="1720656" y="27883"/>
                  </a:cubicBezTo>
                  <a:lnTo>
                    <a:pt x="1720656" y="529154"/>
                  </a:lnTo>
                  <a:cubicBezTo>
                    <a:pt x="1720656" y="544553"/>
                    <a:pt x="1708173" y="557037"/>
                    <a:pt x="1692773" y="557037"/>
                  </a:cubicBezTo>
                  <a:lnTo>
                    <a:pt x="27883" y="557037"/>
                  </a:lnTo>
                  <a:cubicBezTo>
                    <a:pt x="20488" y="557037"/>
                    <a:pt x="13396" y="554099"/>
                    <a:pt x="8167" y="548870"/>
                  </a:cubicBezTo>
                  <a:cubicBezTo>
                    <a:pt x="2938" y="543641"/>
                    <a:pt x="0" y="536549"/>
                    <a:pt x="0" y="529154"/>
                  </a:cubicBezTo>
                  <a:lnTo>
                    <a:pt x="0" y="27883"/>
                  </a:lnTo>
                  <a:cubicBezTo>
                    <a:pt x="0" y="20488"/>
                    <a:pt x="2938" y="13396"/>
                    <a:pt x="8167" y="8167"/>
                  </a:cubicBezTo>
                  <a:cubicBezTo>
                    <a:pt x="13396" y="2938"/>
                    <a:pt x="20488" y="0"/>
                    <a:pt x="2788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88" r="0" b="-388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612353" y="6657960"/>
            <a:ext cx="310488" cy="504606"/>
          </a:xfrm>
          <a:custGeom>
            <a:avLst/>
            <a:gdLst/>
            <a:ahLst/>
            <a:cxnLst/>
            <a:rect r="r" b="b" t="t" l="l"/>
            <a:pathLst>
              <a:path h="504606" w="310488">
                <a:moveTo>
                  <a:pt x="0" y="0"/>
                </a:moveTo>
                <a:lnTo>
                  <a:pt x="310488" y="0"/>
                </a:lnTo>
                <a:lnTo>
                  <a:pt x="310488" y="504607"/>
                </a:lnTo>
                <a:lnTo>
                  <a:pt x="0" y="504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6828" t="-1129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54561" y="6657960"/>
            <a:ext cx="310488" cy="504606"/>
          </a:xfrm>
          <a:custGeom>
            <a:avLst/>
            <a:gdLst/>
            <a:ahLst/>
            <a:cxnLst/>
            <a:rect r="r" b="b" t="t" l="l"/>
            <a:pathLst>
              <a:path h="504606" w="310488">
                <a:moveTo>
                  <a:pt x="0" y="0"/>
                </a:moveTo>
                <a:lnTo>
                  <a:pt x="310488" y="0"/>
                </a:lnTo>
                <a:lnTo>
                  <a:pt x="310488" y="504607"/>
                </a:lnTo>
                <a:lnTo>
                  <a:pt x="0" y="504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6828" t="-1129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12353" y="7991874"/>
            <a:ext cx="310488" cy="504606"/>
          </a:xfrm>
          <a:custGeom>
            <a:avLst/>
            <a:gdLst/>
            <a:ahLst/>
            <a:cxnLst/>
            <a:rect r="r" b="b" t="t" l="l"/>
            <a:pathLst>
              <a:path h="504606" w="310488">
                <a:moveTo>
                  <a:pt x="0" y="0"/>
                </a:moveTo>
                <a:lnTo>
                  <a:pt x="310488" y="0"/>
                </a:lnTo>
                <a:lnTo>
                  <a:pt x="310488" y="504607"/>
                </a:lnTo>
                <a:lnTo>
                  <a:pt x="0" y="504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6828" t="-1129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954561" y="7991874"/>
            <a:ext cx="310488" cy="504606"/>
          </a:xfrm>
          <a:custGeom>
            <a:avLst/>
            <a:gdLst/>
            <a:ahLst/>
            <a:cxnLst/>
            <a:rect r="r" b="b" t="t" l="l"/>
            <a:pathLst>
              <a:path h="504606" w="310488">
                <a:moveTo>
                  <a:pt x="0" y="0"/>
                </a:moveTo>
                <a:lnTo>
                  <a:pt x="310488" y="0"/>
                </a:lnTo>
                <a:lnTo>
                  <a:pt x="310488" y="504607"/>
                </a:lnTo>
                <a:lnTo>
                  <a:pt x="0" y="5046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36828" t="-112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612353" y="5095875"/>
            <a:ext cx="11106299" cy="100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5"/>
              </a:lnSpc>
            </a:pPr>
            <a:r>
              <a:rPr lang="en-US" b="true" sz="6356">
                <a:solidFill>
                  <a:srgbClr val="EFEAE6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BRAND DNA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4317" y="6336174"/>
            <a:ext cx="4683106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100% certified</a:t>
            </a:r>
          </a:p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organic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64317" y="7670116"/>
            <a:ext cx="4683106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Indian roots,</a:t>
            </a:r>
          </a:p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global flavor culture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13812" y="6369536"/>
            <a:ext cx="4204841" cy="103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Plastic-free,</a:t>
            </a:r>
          </a:p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purpose-led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13812" y="7670116"/>
            <a:ext cx="4204841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Premium honesty &amp;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warm cultural confidence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8710" y="-514350"/>
            <a:ext cx="4887474" cy="11080972"/>
            <a:chOff x="0" y="0"/>
            <a:chExt cx="1287236" cy="2918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236" cy="2918446"/>
            </a:xfrm>
            <a:custGeom>
              <a:avLst/>
              <a:gdLst/>
              <a:ahLst/>
              <a:cxnLst/>
              <a:rect r="r" b="b" t="t" l="l"/>
              <a:pathLst>
                <a:path h="2918446" w="1287236">
                  <a:moveTo>
                    <a:pt x="0" y="0"/>
                  </a:moveTo>
                  <a:lnTo>
                    <a:pt x="1287236" y="0"/>
                  </a:lnTo>
                  <a:lnTo>
                    <a:pt x="1287236" y="2918446"/>
                  </a:lnTo>
                  <a:lnTo>
                    <a:pt x="0" y="2918446"/>
                  </a:lnTo>
                  <a:close/>
                </a:path>
              </a:pathLst>
            </a:custGeom>
            <a:solidFill>
              <a:srgbClr val="0E2C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1287236" cy="2994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39492" y="2701541"/>
            <a:ext cx="925910" cy="927227"/>
          </a:xfrm>
          <a:custGeom>
            <a:avLst/>
            <a:gdLst/>
            <a:ahLst/>
            <a:cxnLst/>
            <a:rect r="r" b="b" t="t" l="l"/>
            <a:pathLst>
              <a:path h="927227" w="925910">
                <a:moveTo>
                  <a:pt x="0" y="0"/>
                </a:moveTo>
                <a:lnTo>
                  <a:pt x="925910" y="0"/>
                </a:lnTo>
                <a:lnTo>
                  <a:pt x="925910" y="927227"/>
                </a:lnTo>
                <a:lnTo>
                  <a:pt x="0" y="927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89814" y="6110203"/>
            <a:ext cx="1026904" cy="1018289"/>
          </a:xfrm>
          <a:custGeom>
            <a:avLst/>
            <a:gdLst/>
            <a:ahLst/>
            <a:cxnLst/>
            <a:rect r="r" b="b" t="t" l="l"/>
            <a:pathLst>
              <a:path h="1018289" w="1026904">
                <a:moveTo>
                  <a:pt x="0" y="0"/>
                </a:moveTo>
                <a:lnTo>
                  <a:pt x="1026904" y="0"/>
                </a:lnTo>
                <a:lnTo>
                  <a:pt x="1026904" y="1018290"/>
                </a:lnTo>
                <a:lnTo>
                  <a:pt x="0" y="1018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34718" y="5731584"/>
            <a:ext cx="735458" cy="1235138"/>
          </a:xfrm>
          <a:custGeom>
            <a:avLst/>
            <a:gdLst/>
            <a:ahLst/>
            <a:cxnLst/>
            <a:rect r="r" b="b" t="t" l="l"/>
            <a:pathLst>
              <a:path h="1235138" w="735458">
                <a:moveTo>
                  <a:pt x="0" y="0"/>
                </a:moveTo>
                <a:lnTo>
                  <a:pt x="735458" y="0"/>
                </a:lnTo>
                <a:lnTo>
                  <a:pt x="735458" y="1235138"/>
                </a:lnTo>
                <a:lnTo>
                  <a:pt x="0" y="1235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841" t="-21109" r="-72871" b="-2639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19214" y="1302995"/>
            <a:ext cx="5505392" cy="1398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82"/>
              </a:lnSpc>
            </a:pPr>
            <a:r>
              <a:rPr lang="en-US" b="true" sz="4705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LOGO CONCEPTS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19214" y="3079429"/>
            <a:ext cx="6740086" cy="618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01"/>
              </a:lnSpc>
            </a:pPr>
            <a:r>
              <a:rPr lang="en-US" sz="2072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Fou</a:t>
            </a:r>
            <a:r>
              <a:rPr lang="en-US" sz="2072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r distinct routes explore the SattvaMunch identity. Route 01 is a pure editorial wordmark — no icon, refined and globally legible, built to work standalone across any context. Route 02 pairs a seed-origin symbol — a droplet held within concentric rings — with the wordmark, evoking purity and the essence held inside the grain. Route 03 interprets sacred geometry — a modern floral mark rooted in ancient pattern logic, paired with the wordmark for a more ornamental, heritage-forward feel. Route 04 pairs a standalone abstract monogram — a single flame-like "S" form — with the wordmark, designed to represent the brand independent of any one product, built for a house of organic foods rather than a single-SKU identity. Each route maintains generous clear space and reads with equal authority at small and large scales.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73055" y="3733312"/>
            <a:ext cx="3794242" cy="48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08"/>
              </a:lnSpc>
            </a:pPr>
            <a:r>
              <a:rPr lang="en-US" sz="3200" spc="761">
                <a:solidFill>
                  <a:srgbClr val="F5EFE0"/>
                </a:solidFill>
                <a:latin typeface="Architype Aubette"/>
                <a:ea typeface="Architype Aubette"/>
                <a:cs typeface="Architype Aubette"/>
                <a:sym typeface="Architype Aubette"/>
              </a:rPr>
              <a:t>SATTVAMUNCH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186" y="2915472"/>
            <a:ext cx="3191674" cy="48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7"/>
              </a:lnSpc>
            </a:pPr>
            <a:r>
              <a:rPr lang="en-US" sz="3199" spc="569">
                <a:solidFill>
                  <a:srgbClr val="3B2314"/>
                </a:solidFill>
                <a:latin typeface="Chewy"/>
                <a:ea typeface="Chewy"/>
                <a:cs typeface="Chewy"/>
                <a:sym typeface="Chewy"/>
              </a:rPr>
              <a:t>SATTVAMUNCH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88067" y="7240261"/>
            <a:ext cx="2628761" cy="413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50"/>
              </a:lnSpc>
            </a:pPr>
            <a:r>
              <a:rPr lang="en-US" sz="2731">
                <a:solidFill>
                  <a:srgbClr val="F5EFE0"/>
                </a:solidFill>
                <a:latin typeface="Ahamono"/>
                <a:ea typeface="Ahamono"/>
                <a:cs typeface="Ahamono"/>
                <a:sym typeface="Ahamono"/>
              </a:rPr>
              <a:t>SATTVAMUNCH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1186" y="7333401"/>
            <a:ext cx="3044160" cy="48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8"/>
              </a:lnSpc>
            </a:pPr>
            <a:r>
              <a:rPr lang="en-US" sz="3200" spc="793">
                <a:solidFill>
                  <a:srgbClr val="0E2C47"/>
                </a:solidFill>
                <a:latin typeface="Hey Gotcha!"/>
                <a:ea typeface="Hey Gotcha!"/>
                <a:cs typeface="Hey Gotcha!"/>
                <a:sym typeface="Hey Gotcha!"/>
              </a:rPr>
              <a:t>SATTVAMUNCH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0893" y="1688592"/>
            <a:ext cx="5505392" cy="187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COLOR</a:t>
            </a:r>
          </a:p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SYSTEM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382174" y="5129051"/>
            <a:ext cx="6754309" cy="2285753"/>
            <a:chOff x="0" y="0"/>
            <a:chExt cx="1778913" cy="6020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913" cy="602009"/>
            </a:xfrm>
            <a:custGeom>
              <a:avLst/>
              <a:gdLst/>
              <a:ahLst/>
              <a:cxnLst/>
              <a:rect r="r" b="b" t="t" l="l"/>
              <a:pathLst>
                <a:path h="602009" w="1778913">
                  <a:moveTo>
                    <a:pt x="64188" y="0"/>
                  </a:moveTo>
                  <a:lnTo>
                    <a:pt x="1714724" y="0"/>
                  </a:lnTo>
                  <a:cubicBezTo>
                    <a:pt x="1731748" y="0"/>
                    <a:pt x="1748075" y="6763"/>
                    <a:pt x="1760112" y="18800"/>
                  </a:cubicBezTo>
                  <a:cubicBezTo>
                    <a:pt x="1772150" y="30838"/>
                    <a:pt x="1778913" y="47164"/>
                    <a:pt x="1778913" y="64188"/>
                  </a:cubicBezTo>
                  <a:lnTo>
                    <a:pt x="1778913" y="537821"/>
                  </a:lnTo>
                  <a:cubicBezTo>
                    <a:pt x="1778913" y="573271"/>
                    <a:pt x="1750175" y="602009"/>
                    <a:pt x="1714724" y="602009"/>
                  </a:cubicBezTo>
                  <a:lnTo>
                    <a:pt x="64188" y="602009"/>
                  </a:lnTo>
                  <a:cubicBezTo>
                    <a:pt x="47164" y="602009"/>
                    <a:pt x="30838" y="595246"/>
                    <a:pt x="18800" y="583209"/>
                  </a:cubicBezTo>
                  <a:cubicBezTo>
                    <a:pt x="6763" y="571171"/>
                    <a:pt x="0" y="554844"/>
                    <a:pt x="0" y="537821"/>
                  </a:cubicBezTo>
                  <a:lnTo>
                    <a:pt x="0" y="64188"/>
                  </a:lnTo>
                  <a:cubicBezTo>
                    <a:pt x="0" y="47164"/>
                    <a:pt x="6763" y="30838"/>
                    <a:pt x="18800" y="18800"/>
                  </a:cubicBezTo>
                  <a:cubicBezTo>
                    <a:pt x="30838" y="6763"/>
                    <a:pt x="47164" y="0"/>
                    <a:pt x="64188" y="0"/>
                  </a:cubicBezTo>
                  <a:close/>
                </a:path>
              </a:pathLst>
            </a:custGeom>
            <a:solidFill>
              <a:srgbClr val="3B231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913" cy="640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39271" y="2141593"/>
            <a:ext cx="3097212" cy="2285753"/>
            <a:chOff x="0" y="0"/>
            <a:chExt cx="815727" cy="6020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5727" cy="602009"/>
            </a:xfrm>
            <a:custGeom>
              <a:avLst/>
              <a:gdLst/>
              <a:ahLst/>
              <a:cxnLst/>
              <a:rect r="r" b="b" t="t" l="l"/>
              <a:pathLst>
                <a:path h="602009" w="815727">
                  <a:moveTo>
                    <a:pt x="139980" y="0"/>
                  </a:moveTo>
                  <a:lnTo>
                    <a:pt x="675747" y="0"/>
                  </a:lnTo>
                  <a:cubicBezTo>
                    <a:pt x="753056" y="0"/>
                    <a:pt x="815727" y="62671"/>
                    <a:pt x="815727" y="139980"/>
                  </a:cubicBezTo>
                  <a:lnTo>
                    <a:pt x="815727" y="462029"/>
                  </a:lnTo>
                  <a:cubicBezTo>
                    <a:pt x="815727" y="539338"/>
                    <a:pt x="753056" y="602009"/>
                    <a:pt x="675747" y="602009"/>
                  </a:cubicBezTo>
                  <a:lnTo>
                    <a:pt x="139980" y="602009"/>
                  </a:lnTo>
                  <a:cubicBezTo>
                    <a:pt x="102855" y="602009"/>
                    <a:pt x="67250" y="587261"/>
                    <a:pt x="40999" y="561010"/>
                  </a:cubicBezTo>
                  <a:cubicBezTo>
                    <a:pt x="14748" y="534758"/>
                    <a:pt x="0" y="499154"/>
                    <a:pt x="0" y="462029"/>
                  </a:cubicBezTo>
                  <a:lnTo>
                    <a:pt x="0" y="139980"/>
                  </a:lnTo>
                  <a:cubicBezTo>
                    <a:pt x="0" y="102855"/>
                    <a:pt x="14748" y="67250"/>
                    <a:pt x="40999" y="40999"/>
                  </a:cubicBezTo>
                  <a:cubicBezTo>
                    <a:pt x="67250" y="14748"/>
                    <a:pt x="102855" y="0"/>
                    <a:pt x="139980" y="0"/>
                  </a:cubicBezTo>
                  <a:close/>
                </a:path>
              </a:pathLst>
            </a:custGeom>
            <a:solidFill>
              <a:srgbClr val="E8922A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5727" cy="640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82174" y="2141593"/>
            <a:ext cx="3303063" cy="2285753"/>
            <a:chOff x="0" y="0"/>
            <a:chExt cx="869943" cy="6020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9943" cy="602009"/>
            </a:xfrm>
            <a:custGeom>
              <a:avLst/>
              <a:gdLst/>
              <a:ahLst/>
              <a:cxnLst/>
              <a:rect r="r" b="b" t="t" l="l"/>
              <a:pathLst>
                <a:path h="602009" w="869943">
                  <a:moveTo>
                    <a:pt x="131256" y="0"/>
                  </a:moveTo>
                  <a:lnTo>
                    <a:pt x="738686" y="0"/>
                  </a:lnTo>
                  <a:cubicBezTo>
                    <a:pt x="773498" y="0"/>
                    <a:pt x="806883" y="13829"/>
                    <a:pt x="831499" y="38444"/>
                  </a:cubicBezTo>
                  <a:cubicBezTo>
                    <a:pt x="856114" y="63059"/>
                    <a:pt x="869943" y="96445"/>
                    <a:pt x="869943" y="131256"/>
                  </a:cubicBezTo>
                  <a:lnTo>
                    <a:pt x="869943" y="470753"/>
                  </a:lnTo>
                  <a:cubicBezTo>
                    <a:pt x="869943" y="505564"/>
                    <a:pt x="856114" y="538950"/>
                    <a:pt x="831499" y="563565"/>
                  </a:cubicBezTo>
                  <a:cubicBezTo>
                    <a:pt x="806883" y="588180"/>
                    <a:pt x="773498" y="602009"/>
                    <a:pt x="738686" y="602009"/>
                  </a:cubicBezTo>
                  <a:lnTo>
                    <a:pt x="131256" y="602009"/>
                  </a:lnTo>
                  <a:cubicBezTo>
                    <a:pt x="96445" y="602009"/>
                    <a:pt x="63059" y="588180"/>
                    <a:pt x="38444" y="563565"/>
                  </a:cubicBezTo>
                  <a:cubicBezTo>
                    <a:pt x="13829" y="538950"/>
                    <a:pt x="0" y="505564"/>
                    <a:pt x="0" y="470753"/>
                  </a:cubicBezTo>
                  <a:lnTo>
                    <a:pt x="0" y="131256"/>
                  </a:lnTo>
                  <a:cubicBezTo>
                    <a:pt x="0" y="96445"/>
                    <a:pt x="13829" y="63059"/>
                    <a:pt x="38444" y="38444"/>
                  </a:cubicBezTo>
                  <a:cubicBezTo>
                    <a:pt x="63059" y="13829"/>
                    <a:pt x="96445" y="0"/>
                    <a:pt x="131256" y="0"/>
                  </a:cubicBezTo>
                  <a:close/>
                </a:path>
              </a:pathLst>
            </a:custGeom>
            <a:solidFill>
              <a:srgbClr val="F5EFE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69943" cy="640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100893" y="4121785"/>
            <a:ext cx="5505392" cy="909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Our palette is rooted in organic warmth and Indian terroir—earthy, honest, and globally refined. Each hue carries a mood and a story.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692353" y="8689932"/>
            <a:ext cx="566947" cy="568368"/>
          </a:xfrm>
          <a:custGeom>
            <a:avLst/>
            <a:gdLst/>
            <a:ahLst/>
            <a:cxnLst/>
            <a:rect r="r" b="b" t="t" l="l"/>
            <a:pathLst>
              <a:path h="568368" w="566947">
                <a:moveTo>
                  <a:pt x="0" y="0"/>
                </a:moveTo>
                <a:lnTo>
                  <a:pt x="566947" y="0"/>
                </a:lnTo>
                <a:lnTo>
                  <a:pt x="566947" y="568368"/>
                </a:lnTo>
                <a:lnTo>
                  <a:pt x="0" y="5683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40152" y="7564301"/>
            <a:ext cx="6927961" cy="6927961"/>
          </a:xfrm>
          <a:custGeom>
            <a:avLst/>
            <a:gdLst/>
            <a:ahLst/>
            <a:cxnLst/>
            <a:rect r="r" b="b" t="t" l="l"/>
            <a:pathLst>
              <a:path h="6927961" w="6927961">
                <a:moveTo>
                  <a:pt x="0" y="0"/>
                </a:moveTo>
                <a:lnTo>
                  <a:pt x="6927961" y="0"/>
                </a:lnTo>
                <a:lnTo>
                  <a:pt x="6927961" y="6927961"/>
                </a:lnTo>
                <a:lnTo>
                  <a:pt x="0" y="6927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5428974" y="4100321"/>
            <a:ext cx="6927961" cy="6927961"/>
          </a:xfrm>
          <a:custGeom>
            <a:avLst/>
            <a:gdLst/>
            <a:ahLst/>
            <a:cxnLst/>
            <a:rect r="r" b="b" t="t" l="l"/>
            <a:pathLst>
              <a:path h="6927961" w="6927961">
                <a:moveTo>
                  <a:pt x="0" y="0"/>
                </a:moveTo>
                <a:lnTo>
                  <a:pt x="6927960" y="0"/>
                </a:lnTo>
                <a:lnTo>
                  <a:pt x="6927960" y="6927961"/>
                </a:lnTo>
                <a:lnTo>
                  <a:pt x="0" y="6927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382174" y="1517387"/>
            <a:ext cx="3303063" cy="50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9"/>
              </a:lnSpc>
              <a:spcBef>
                <a:spcPct val="0"/>
              </a:spcBef>
            </a:pPr>
            <a:r>
              <a:rPr lang="en-US" b="true" sz="2578">
                <a:solidFill>
                  <a:srgbClr val="0E2C47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Primary Colors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96826" y="2672329"/>
            <a:ext cx="2273760" cy="62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11"/>
              </a:lnSpc>
              <a:spcBef>
                <a:spcPct val="0"/>
              </a:spcBef>
            </a:pPr>
            <a:r>
              <a:rPr lang="en-US" sz="3222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Warm Ivory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50997" y="2672329"/>
            <a:ext cx="2273760" cy="62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11"/>
              </a:lnSpc>
              <a:spcBef>
                <a:spcPct val="0"/>
              </a:spcBef>
            </a:pPr>
            <a:r>
              <a:rPr lang="en-US" sz="3222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Saffron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48358" y="5659787"/>
            <a:ext cx="2273760" cy="622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11"/>
              </a:lnSpc>
              <a:spcBef>
                <a:spcPct val="0"/>
              </a:spcBef>
            </a:pPr>
            <a:r>
              <a:rPr lang="en-US" sz="3222">
                <a:solidFill>
                  <a:srgbClr val="F5EFE0"/>
                </a:solidFill>
                <a:latin typeface="Tabarra Sans"/>
                <a:ea typeface="Tabarra Sans"/>
                <a:cs typeface="Tabarra Sans"/>
                <a:sym typeface="Tabarra Sans"/>
              </a:rPr>
              <a:t>Deep Earth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96826" y="3364480"/>
            <a:ext cx="2273760" cy="26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3"/>
              </a:lnSpc>
              <a:spcBef>
                <a:spcPct val="0"/>
              </a:spcBef>
            </a:pPr>
            <a:r>
              <a:rPr lang="en-US" sz="1395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#F5EFE0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50997" y="3364480"/>
            <a:ext cx="2273760" cy="26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3"/>
              </a:lnSpc>
              <a:spcBef>
                <a:spcPct val="0"/>
              </a:spcBef>
            </a:pPr>
            <a:r>
              <a:rPr lang="en-US" sz="1395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#E8922A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548358" y="6351938"/>
            <a:ext cx="2273760" cy="26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3"/>
              </a:lnSpc>
              <a:spcBef>
                <a:spcPct val="0"/>
              </a:spcBef>
            </a:pPr>
            <a:r>
              <a:rPr lang="en-US" sz="1395">
                <a:solidFill>
                  <a:srgbClr val="F5EFE0"/>
                </a:solidFill>
                <a:latin typeface="Tabarra Sans"/>
                <a:ea typeface="Tabarra Sans"/>
                <a:cs typeface="Tabarra Sans"/>
                <a:sym typeface="Tabarra Sans"/>
              </a:rPr>
              <a:t>#3B2314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82174" y="4504846"/>
            <a:ext cx="3303063" cy="506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9"/>
              </a:lnSpc>
              <a:spcBef>
                <a:spcPct val="0"/>
              </a:spcBef>
            </a:pPr>
            <a:r>
              <a:rPr lang="en-US" b="true" sz="2578">
                <a:solidFill>
                  <a:srgbClr val="0E2C47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Flavor Accent Colors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04009" y="7772589"/>
            <a:ext cx="5932474" cy="120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Smoke &amp; Pepper #4A4A48  ·  Golden Sesame #C8A84B  ·  Pom Rose #C0445A  ·  Truffle Rosemary #5C6B4E</a:t>
            </a:r>
          </a:p>
          <a:p>
            <a:pPr algn="l" marL="0" indent="0" lvl="0">
              <a:lnSpc>
                <a:spcPts val="2378"/>
              </a:lnSpc>
              <a:spcBef>
                <a:spcPct val="0"/>
              </a:spcBef>
            </a:pPr>
            <a:r>
              <a:rPr lang="en-US" sz="1698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Each accent maps to a distinct flavor world—grounded, luminous, and culturally resonant.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4234" y="1653920"/>
            <a:ext cx="6781858" cy="1008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EFEAE6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TYPOGRAPHY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03362" y="6673429"/>
            <a:ext cx="3532477" cy="2501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928"/>
              </a:lnSpc>
            </a:pPr>
            <a:r>
              <a:rPr lang="en-US" b="true" sz="15674">
                <a:solidFill>
                  <a:srgbClr val="EFEAE6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Aa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03362" y="3400111"/>
            <a:ext cx="2426699" cy="492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3110">
                <a:solidFill>
                  <a:srgbClr val="EFEAE6"/>
                </a:solidFill>
                <a:latin typeface="Tabarra Sans Light"/>
                <a:ea typeface="Tabarra Sans Light"/>
                <a:cs typeface="Tabarra Sans Light"/>
                <a:sym typeface="Tabarra Sans Light"/>
              </a:rPr>
              <a:t>Light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03362" y="4259043"/>
            <a:ext cx="2426699" cy="48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sz="3110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Regular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03362" y="5084828"/>
            <a:ext cx="2426699" cy="48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3110">
                <a:solidFill>
                  <a:srgbClr val="EFEAE6"/>
                </a:solidFill>
                <a:latin typeface="Tabarra Sans Bold"/>
                <a:ea typeface="Tabarra Sans Bold"/>
                <a:cs typeface="Tabarra Sans Bold"/>
                <a:sym typeface="Tabarra Sans Bold"/>
              </a:rPr>
              <a:t>Bold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03362" y="5842736"/>
            <a:ext cx="2426699" cy="48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</a:pPr>
            <a:r>
              <a:rPr lang="en-US" b="true" sz="3110">
                <a:solidFill>
                  <a:srgbClr val="EFEAE6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Black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304752" y="4882266"/>
            <a:ext cx="5505392" cy="175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</a:pPr>
            <a:r>
              <a:rPr lang="en-US" sz="2446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Headlines: Canela Display Black</a:t>
            </a:r>
          </a:p>
          <a:p>
            <a:pPr algn="l" marL="0" indent="0" lvl="0">
              <a:lnSpc>
                <a:spcPts val="3424"/>
              </a:lnSpc>
            </a:pPr>
            <a:r>
              <a:rPr lang="en-US" sz="2446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Body Text: Neue Haas Grotesk Regular</a:t>
            </a:r>
          </a:p>
          <a:p>
            <a:pPr algn="l" marL="0" indent="0" lvl="0">
              <a:lnSpc>
                <a:spcPts val="3424"/>
              </a:lnSpc>
            </a:pPr>
            <a:r>
              <a:rPr lang="en-US" sz="2446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Flavor Names: Canela Display Italic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04752" y="7117736"/>
            <a:ext cx="5266261" cy="175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4"/>
              </a:lnSpc>
              <a:spcBef>
                <a:spcPct val="0"/>
              </a:spcBef>
            </a:pPr>
            <a:r>
              <a:rPr lang="en-US" sz="2446">
                <a:solidFill>
                  <a:srgbClr val="96D1CB"/>
                </a:solidFill>
                <a:latin typeface="Tabarra Sans"/>
                <a:ea typeface="Tabarra Sans"/>
                <a:cs typeface="Tabarra Sans"/>
                <a:sym typeface="Tabarra Sans"/>
              </a:rPr>
              <a:t>Letterforms carry a subtle structural nod to Devanagari geometry — warm, editorial, and globally legible without appropriation.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003362" y="4155131"/>
            <a:ext cx="3532477" cy="0"/>
          </a:xfrm>
          <a:prstGeom prst="line">
            <a:avLst/>
          </a:prstGeom>
          <a:ln cap="flat" w="28575">
            <a:solidFill>
              <a:srgbClr val="96D1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4003362" y="4946716"/>
            <a:ext cx="3532477" cy="0"/>
          </a:xfrm>
          <a:prstGeom prst="line">
            <a:avLst/>
          </a:prstGeom>
          <a:ln cap="flat" w="28575">
            <a:solidFill>
              <a:srgbClr val="96D1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4003362" y="5734737"/>
            <a:ext cx="3532477" cy="0"/>
          </a:xfrm>
          <a:prstGeom prst="line">
            <a:avLst/>
          </a:prstGeom>
          <a:ln cap="flat" w="28575">
            <a:solidFill>
              <a:srgbClr val="96D1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4003362" y="6528870"/>
            <a:ext cx="3532477" cy="0"/>
          </a:xfrm>
          <a:prstGeom prst="line">
            <a:avLst/>
          </a:prstGeom>
          <a:ln cap="flat" w="28575">
            <a:solidFill>
              <a:srgbClr val="96D1C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-5400000">
            <a:off x="-4331109" y="3463679"/>
            <a:ext cx="7254907" cy="7291364"/>
          </a:xfrm>
          <a:custGeom>
            <a:avLst/>
            <a:gdLst/>
            <a:ahLst/>
            <a:cxnLst/>
            <a:rect r="r" b="b" t="t" l="l"/>
            <a:pathLst>
              <a:path h="7291364" w="7254907">
                <a:moveTo>
                  <a:pt x="0" y="0"/>
                </a:moveTo>
                <a:lnTo>
                  <a:pt x="7254907" y="0"/>
                </a:lnTo>
                <a:lnTo>
                  <a:pt x="7254907" y="7291364"/>
                </a:lnTo>
                <a:lnTo>
                  <a:pt x="0" y="72913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10800000">
            <a:off x="10304752" y="-4712423"/>
            <a:ext cx="8628930" cy="8672292"/>
          </a:xfrm>
          <a:custGeom>
            <a:avLst/>
            <a:gdLst/>
            <a:ahLst/>
            <a:cxnLst/>
            <a:rect r="r" b="b" t="t" l="l"/>
            <a:pathLst>
              <a:path h="8672292" w="8628930">
                <a:moveTo>
                  <a:pt x="0" y="0"/>
                </a:moveTo>
                <a:lnTo>
                  <a:pt x="8628930" y="0"/>
                </a:lnTo>
                <a:lnTo>
                  <a:pt x="8628930" y="8672292"/>
                </a:lnTo>
                <a:lnTo>
                  <a:pt x="0" y="86722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7144" y="4399321"/>
            <a:ext cx="6268928" cy="176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15"/>
              </a:lnSpc>
            </a:pPr>
            <a:r>
              <a:rPr lang="en-US" b="true" sz="5939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PHOTOGRAPHY DIRECTION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7144" y="6496920"/>
            <a:ext cx="6268928" cy="251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</a:pPr>
            <a:r>
              <a:rPr lang="en-US" sz="279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Macro roasted crunch; tactile food texture; warm natural light; real urban lifestyle; origin-inspired tablescapes with India, Japan, Middle East and Italy cues.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788258" y="1214160"/>
            <a:ext cx="4096750" cy="2567770"/>
            <a:chOff x="0" y="0"/>
            <a:chExt cx="634694" cy="3978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4694" cy="397815"/>
            </a:xfrm>
            <a:custGeom>
              <a:avLst/>
              <a:gdLst/>
              <a:ahLst/>
              <a:cxnLst/>
              <a:rect r="r" b="b" t="t" l="l"/>
              <a:pathLst>
                <a:path h="397815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326003"/>
                  </a:lnTo>
                  <a:cubicBezTo>
                    <a:pt x="634694" y="345049"/>
                    <a:pt x="627128" y="363315"/>
                    <a:pt x="613661" y="376782"/>
                  </a:cubicBezTo>
                  <a:cubicBezTo>
                    <a:pt x="600194" y="390249"/>
                    <a:pt x="581928" y="397815"/>
                    <a:pt x="562882" y="397815"/>
                  </a:cubicBezTo>
                  <a:lnTo>
                    <a:pt x="71811" y="397815"/>
                  </a:lnTo>
                  <a:cubicBezTo>
                    <a:pt x="52766" y="397815"/>
                    <a:pt x="34500" y="390249"/>
                    <a:pt x="21033" y="376782"/>
                  </a:cubicBezTo>
                  <a:cubicBezTo>
                    <a:pt x="7566" y="363315"/>
                    <a:pt x="0" y="345049"/>
                    <a:pt x="0" y="326003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7144" y="1214160"/>
            <a:ext cx="6268928" cy="2567770"/>
            <a:chOff x="0" y="0"/>
            <a:chExt cx="971221" cy="3978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1221" cy="397815"/>
            </a:xfrm>
            <a:custGeom>
              <a:avLst/>
              <a:gdLst/>
              <a:ahLst/>
              <a:cxnLst/>
              <a:rect r="r" b="b" t="t" l="l"/>
              <a:pathLst>
                <a:path h="397815" w="971221">
                  <a:moveTo>
                    <a:pt x="46929" y="0"/>
                  </a:moveTo>
                  <a:lnTo>
                    <a:pt x="924292" y="0"/>
                  </a:lnTo>
                  <a:cubicBezTo>
                    <a:pt x="936739" y="0"/>
                    <a:pt x="948675" y="4944"/>
                    <a:pt x="957476" y="13745"/>
                  </a:cubicBezTo>
                  <a:cubicBezTo>
                    <a:pt x="966277" y="22546"/>
                    <a:pt x="971221" y="34482"/>
                    <a:pt x="971221" y="46929"/>
                  </a:cubicBezTo>
                  <a:lnTo>
                    <a:pt x="971221" y="350886"/>
                  </a:lnTo>
                  <a:cubicBezTo>
                    <a:pt x="971221" y="363332"/>
                    <a:pt x="966277" y="375269"/>
                    <a:pt x="957476" y="384070"/>
                  </a:cubicBezTo>
                  <a:cubicBezTo>
                    <a:pt x="948675" y="392870"/>
                    <a:pt x="936739" y="397815"/>
                    <a:pt x="924292" y="397815"/>
                  </a:cubicBezTo>
                  <a:lnTo>
                    <a:pt x="46929" y="397815"/>
                  </a:lnTo>
                  <a:cubicBezTo>
                    <a:pt x="34482" y="397815"/>
                    <a:pt x="22546" y="392870"/>
                    <a:pt x="13745" y="384070"/>
                  </a:cubicBezTo>
                  <a:cubicBezTo>
                    <a:pt x="4944" y="375269"/>
                    <a:pt x="0" y="363332"/>
                    <a:pt x="0" y="350886"/>
                  </a:cubicBezTo>
                  <a:lnTo>
                    <a:pt x="0" y="46929"/>
                  </a:lnTo>
                  <a:cubicBezTo>
                    <a:pt x="0" y="34482"/>
                    <a:pt x="4944" y="22546"/>
                    <a:pt x="13745" y="13745"/>
                  </a:cubicBezTo>
                  <a:cubicBezTo>
                    <a:pt x="22546" y="4944"/>
                    <a:pt x="34482" y="0"/>
                    <a:pt x="4692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" r="0" b="-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88258" y="4149601"/>
            <a:ext cx="4096750" cy="4923239"/>
            <a:chOff x="0" y="0"/>
            <a:chExt cx="634694" cy="7627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4694" cy="762738"/>
            </a:xfrm>
            <a:custGeom>
              <a:avLst/>
              <a:gdLst/>
              <a:ahLst/>
              <a:cxnLst/>
              <a:rect r="r" b="b" t="t" l="l"/>
              <a:pathLst>
                <a:path h="762738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690927"/>
                  </a:lnTo>
                  <a:cubicBezTo>
                    <a:pt x="634694" y="709973"/>
                    <a:pt x="627128" y="728238"/>
                    <a:pt x="613661" y="741705"/>
                  </a:cubicBezTo>
                  <a:cubicBezTo>
                    <a:pt x="600194" y="755173"/>
                    <a:pt x="581928" y="762738"/>
                    <a:pt x="562882" y="762738"/>
                  </a:cubicBezTo>
                  <a:lnTo>
                    <a:pt x="71811" y="762738"/>
                  </a:lnTo>
                  <a:cubicBezTo>
                    <a:pt x="52766" y="762738"/>
                    <a:pt x="34500" y="755173"/>
                    <a:pt x="21033" y="741705"/>
                  </a:cubicBezTo>
                  <a:cubicBezTo>
                    <a:pt x="7566" y="728238"/>
                    <a:pt x="0" y="709973"/>
                    <a:pt x="0" y="690927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565" r="0" b="-125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17548" y="1214160"/>
            <a:ext cx="4096750" cy="7858679"/>
            <a:chOff x="0" y="0"/>
            <a:chExt cx="634694" cy="12175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4694" cy="1217515"/>
            </a:xfrm>
            <a:custGeom>
              <a:avLst/>
              <a:gdLst/>
              <a:ahLst/>
              <a:cxnLst/>
              <a:rect r="r" b="b" t="t" l="l"/>
              <a:pathLst>
                <a:path h="1217515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1145704"/>
                  </a:lnTo>
                  <a:cubicBezTo>
                    <a:pt x="634694" y="1164749"/>
                    <a:pt x="627128" y="1183015"/>
                    <a:pt x="613661" y="1196482"/>
                  </a:cubicBezTo>
                  <a:cubicBezTo>
                    <a:pt x="600194" y="1209949"/>
                    <a:pt x="581928" y="1217515"/>
                    <a:pt x="562882" y="1217515"/>
                  </a:cubicBezTo>
                  <a:lnTo>
                    <a:pt x="71811" y="1217515"/>
                  </a:lnTo>
                  <a:cubicBezTo>
                    <a:pt x="52766" y="1217515"/>
                    <a:pt x="34500" y="1209949"/>
                    <a:pt x="21033" y="1196482"/>
                  </a:cubicBezTo>
                  <a:cubicBezTo>
                    <a:pt x="7566" y="1183015"/>
                    <a:pt x="0" y="1164749"/>
                    <a:pt x="0" y="1145704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5"/>
              <a:stretch>
                <a:fillRect l="-594" t="0" r="-59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7144" y="4408846"/>
            <a:ext cx="6268928" cy="1607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54"/>
              </a:lnSpc>
            </a:pPr>
            <a:r>
              <a:rPr lang="en-US" b="true" sz="5420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ILLUSTRATION &amp; FLAVOR WORLDS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77144" y="6506445"/>
            <a:ext cx="6268928" cy="2726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8"/>
              </a:lnSpc>
            </a:pPr>
            <a:r>
              <a:rPr lang="en-US" sz="2548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Fine botanical linework and spice-inspired illustration language. Abstract geographic cues and ingredient-led symbolism — no literal cultural icons. Four distinct flavor worlds, each with its own visual character.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788258" y="1214160"/>
            <a:ext cx="4096750" cy="2567770"/>
            <a:chOff x="0" y="0"/>
            <a:chExt cx="634694" cy="3978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34694" cy="397815"/>
            </a:xfrm>
            <a:custGeom>
              <a:avLst/>
              <a:gdLst/>
              <a:ahLst/>
              <a:cxnLst/>
              <a:rect r="r" b="b" t="t" l="l"/>
              <a:pathLst>
                <a:path h="397815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326003"/>
                  </a:lnTo>
                  <a:cubicBezTo>
                    <a:pt x="634694" y="345049"/>
                    <a:pt x="627128" y="363315"/>
                    <a:pt x="613661" y="376782"/>
                  </a:cubicBezTo>
                  <a:cubicBezTo>
                    <a:pt x="600194" y="390249"/>
                    <a:pt x="581928" y="397815"/>
                    <a:pt x="562882" y="397815"/>
                  </a:cubicBezTo>
                  <a:lnTo>
                    <a:pt x="71811" y="397815"/>
                  </a:lnTo>
                  <a:cubicBezTo>
                    <a:pt x="52766" y="397815"/>
                    <a:pt x="34500" y="390249"/>
                    <a:pt x="21033" y="376782"/>
                  </a:cubicBezTo>
                  <a:cubicBezTo>
                    <a:pt x="7566" y="363315"/>
                    <a:pt x="0" y="345049"/>
                    <a:pt x="0" y="326003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7144" y="1214160"/>
            <a:ext cx="6268928" cy="2567770"/>
            <a:chOff x="0" y="0"/>
            <a:chExt cx="971221" cy="3978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1221" cy="397815"/>
            </a:xfrm>
            <a:custGeom>
              <a:avLst/>
              <a:gdLst/>
              <a:ahLst/>
              <a:cxnLst/>
              <a:rect r="r" b="b" t="t" l="l"/>
              <a:pathLst>
                <a:path h="397815" w="971221">
                  <a:moveTo>
                    <a:pt x="46929" y="0"/>
                  </a:moveTo>
                  <a:lnTo>
                    <a:pt x="924292" y="0"/>
                  </a:lnTo>
                  <a:cubicBezTo>
                    <a:pt x="936739" y="0"/>
                    <a:pt x="948675" y="4944"/>
                    <a:pt x="957476" y="13745"/>
                  </a:cubicBezTo>
                  <a:cubicBezTo>
                    <a:pt x="966277" y="22546"/>
                    <a:pt x="971221" y="34482"/>
                    <a:pt x="971221" y="46929"/>
                  </a:cubicBezTo>
                  <a:lnTo>
                    <a:pt x="971221" y="350886"/>
                  </a:lnTo>
                  <a:cubicBezTo>
                    <a:pt x="971221" y="363332"/>
                    <a:pt x="966277" y="375269"/>
                    <a:pt x="957476" y="384070"/>
                  </a:cubicBezTo>
                  <a:cubicBezTo>
                    <a:pt x="948675" y="392870"/>
                    <a:pt x="936739" y="397815"/>
                    <a:pt x="924292" y="397815"/>
                  </a:cubicBezTo>
                  <a:lnTo>
                    <a:pt x="46929" y="397815"/>
                  </a:lnTo>
                  <a:cubicBezTo>
                    <a:pt x="34482" y="397815"/>
                    <a:pt x="22546" y="392870"/>
                    <a:pt x="13745" y="384070"/>
                  </a:cubicBezTo>
                  <a:cubicBezTo>
                    <a:pt x="4944" y="375269"/>
                    <a:pt x="0" y="363332"/>
                    <a:pt x="0" y="350886"/>
                  </a:cubicBezTo>
                  <a:lnTo>
                    <a:pt x="0" y="46929"/>
                  </a:lnTo>
                  <a:cubicBezTo>
                    <a:pt x="0" y="34482"/>
                    <a:pt x="4944" y="22546"/>
                    <a:pt x="13745" y="13745"/>
                  </a:cubicBezTo>
                  <a:cubicBezTo>
                    <a:pt x="22546" y="4944"/>
                    <a:pt x="34482" y="0"/>
                    <a:pt x="4692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8" r="0" b="-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88258" y="4149601"/>
            <a:ext cx="4096750" cy="4923239"/>
            <a:chOff x="0" y="0"/>
            <a:chExt cx="634694" cy="7627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4694" cy="762738"/>
            </a:xfrm>
            <a:custGeom>
              <a:avLst/>
              <a:gdLst/>
              <a:ahLst/>
              <a:cxnLst/>
              <a:rect r="r" b="b" t="t" l="l"/>
              <a:pathLst>
                <a:path h="762738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690927"/>
                  </a:lnTo>
                  <a:cubicBezTo>
                    <a:pt x="634694" y="709973"/>
                    <a:pt x="627128" y="728238"/>
                    <a:pt x="613661" y="741705"/>
                  </a:cubicBezTo>
                  <a:cubicBezTo>
                    <a:pt x="600194" y="755173"/>
                    <a:pt x="581928" y="762738"/>
                    <a:pt x="562882" y="762738"/>
                  </a:cubicBezTo>
                  <a:lnTo>
                    <a:pt x="71811" y="762738"/>
                  </a:lnTo>
                  <a:cubicBezTo>
                    <a:pt x="52766" y="762738"/>
                    <a:pt x="34500" y="755173"/>
                    <a:pt x="21033" y="741705"/>
                  </a:cubicBezTo>
                  <a:cubicBezTo>
                    <a:pt x="7566" y="728238"/>
                    <a:pt x="0" y="709973"/>
                    <a:pt x="0" y="690927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8" r="0" b="-12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317548" y="1214160"/>
            <a:ext cx="4096750" cy="7858679"/>
            <a:chOff x="0" y="0"/>
            <a:chExt cx="634694" cy="12175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4694" cy="1217515"/>
            </a:xfrm>
            <a:custGeom>
              <a:avLst/>
              <a:gdLst/>
              <a:ahLst/>
              <a:cxnLst/>
              <a:rect r="r" b="b" t="t" l="l"/>
              <a:pathLst>
                <a:path h="1217515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1145704"/>
                  </a:lnTo>
                  <a:cubicBezTo>
                    <a:pt x="634694" y="1164749"/>
                    <a:pt x="627128" y="1183015"/>
                    <a:pt x="613661" y="1196482"/>
                  </a:cubicBezTo>
                  <a:cubicBezTo>
                    <a:pt x="600194" y="1209949"/>
                    <a:pt x="581928" y="1217515"/>
                    <a:pt x="562882" y="1217515"/>
                  </a:cubicBezTo>
                  <a:lnTo>
                    <a:pt x="71811" y="1217515"/>
                  </a:lnTo>
                  <a:cubicBezTo>
                    <a:pt x="52766" y="1217515"/>
                    <a:pt x="34500" y="1209949"/>
                    <a:pt x="21033" y="1196482"/>
                  </a:cubicBezTo>
                  <a:cubicBezTo>
                    <a:pt x="7566" y="1183015"/>
                    <a:pt x="0" y="1164749"/>
                    <a:pt x="0" y="1145704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5"/>
              <a:stretch>
                <a:fillRect l="-594" t="0" r="-594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78651" y="2257442"/>
            <a:ext cx="6456074" cy="185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52"/>
              </a:lnSpc>
            </a:pPr>
            <a:r>
              <a:rPr lang="en-US" b="true" sz="62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3D PACKAGING</a:t>
            </a:r>
          </a:p>
          <a:p>
            <a:pPr algn="l" marL="0" indent="0" lvl="0">
              <a:lnSpc>
                <a:spcPts val="6752"/>
              </a:lnSpc>
            </a:pPr>
            <a:r>
              <a:rPr lang="en-US" b="true" sz="62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&amp; MATERIALITY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964727" y="4674092"/>
            <a:ext cx="5129682" cy="62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  <a:spcBef>
                <a:spcPct val="0"/>
              </a:spcBef>
            </a:pPr>
            <a:r>
              <a:rPr lang="en-US" sz="166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Matte kraft finish with certified-organic material cues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64727" y="5909293"/>
            <a:ext cx="5129682" cy="32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  <a:spcBef>
                <a:spcPct val="0"/>
              </a:spcBef>
            </a:pPr>
            <a:r>
              <a:rPr lang="en-US" sz="166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Warm studio light; subtle ingredient suspension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64727" y="6695423"/>
            <a:ext cx="5129682" cy="32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  <a:spcBef>
                <a:spcPct val="0"/>
              </a:spcBef>
            </a:pPr>
            <a:r>
              <a:rPr lang="en-US" sz="166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Realistic roasted makhana texture on pack surface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64727" y="7481553"/>
            <a:ext cx="5129682" cy="329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37"/>
              </a:lnSpc>
              <a:spcBef>
                <a:spcPct val="0"/>
              </a:spcBef>
            </a:pPr>
            <a:r>
              <a:rPr lang="en-US" sz="166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Four-pack flavor lineup mockup in earth tones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374933" y="4750292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7"/>
                </a:lnTo>
                <a:lnTo>
                  <a:pt x="0" y="336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374933" y="6029505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6"/>
                </a:lnTo>
                <a:lnTo>
                  <a:pt x="0" y="33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74933" y="6815635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6"/>
                </a:lnTo>
                <a:lnTo>
                  <a:pt x="0" y="33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74933" y="7601765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6"/>
                </a:lnTo>
                <a:lnTo>
                  <a:pt x="0" y="33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8698249" y="9492828"/>
            <a:ext cx="1580401" cy="1588343"/>
          </a:xfrm>
          <a:custGeom>
            <a:avLst/>
            <a:gdLst/>
            <a:ahLst/>
            <a:cxnLst/>
            <a:rect r="r" b="b" t="t" l="l"/>
            <a:pathLst>
              <a:path h="1588343" w="1580401">
                <a:moveTo>
                  <a:pt x="0" y="0"/>
                </a:moveTo>
                <a:lnTo>
                  <a:pt x="1580402" y="0"/>
                </a:lnTo>
                <a:lnTo>
                  <a:pt x="1580402" y="1588344"/>
                </a:lnTo>
                <a:lnTo>
                  <a:pt x="0" y="1588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-498952" y="-469111"/>
            <a:ext cx="9642952" cy="11104673"/>
            <a:chOff x="0" y="0"/>
            <a:chExt cx="1493946" cy="17204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93946" cy="1720404"/>
            </a:xfrm>
            <a:custGeom>
              <a:avLst/>
              <a:gdLst/>
              <a:ahLst/>
              <a:cxnLst/>
              <a:rect r="r" b="b" t="t" l="l"/>
              <a:pathLst>
                <a:path h="1720404" w="1493946">
                  <a:moveTo>
                    <a:pt x="30509" y="0"/>
                  </a:moveTo>
                  <a:lnTo>
                    <a:pt x="1463437" y="0"/>
                  </a:lnTo>
                  <a:cubicBezTo>
                    <a:pt x="1480286" y="0"/>
                    <a:pt x="1493946" y="13659"/>
                    <a:pt x="1493946" y="30509"/>
                  </a:cubicBezTo>
                  <a:lnTo>
                    <a:pt x="1493946" y="1689896"/>
                  </a:lnTo>
                  <a:cubicBezTo>
                    <a:pt x="1493946" y="1706745"/>
                    <a:pt x="1480286" y="1720404"/>
                    <a:pt x="1463437" y="1720404"/>
                  </a:cubicBezTo>
                  <a:lnTo>
                    <a:pt x="30509" y="1720404"/>
                  </a:lnTo>
                  <a:cubicBezTo>
                    <a:pt x="13659" y="1720404"/>
                    <a:pt x="0" y="1706745"/>
                    <a:pt x="0" y="1689896"/>
                  </a:cubicBezTo>
                  <a:lnTo>
                    <a:pt x="0" y="30509"/>
                  </a:lnTo>
                  <a:cubicBezTo>
                    <a:pt x="0" y="13659"/>
                    <a:pt x="13659" y="0"/>
                    <a:pt x="30509" y="0"/>
                  </a:cubicBezTo>
                  <a:close/>
                </a:path>
              </a:pathLst>
            </a:custGeom>
            <a:blipFill>
              <a:blip r:embed="rId6"/>
              <a:stretch>
                <a:fillRect l="-21" t="0" r="-21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10800000">
            <a:off x="15402186" y="-2046951"/>
            <a:ext cx="3714228" cy="3732892"/>
          </a:xfrm>
          <a:custGeom>
            <a:avLst/>
            <a:gdLst/>
            <a:ahLst/>
            <a:cxnLst/>
            <a:rect r="r" b="b" t="t" l="l"/>
            <a:pathLst>
              <a:path h="3732892" w="3714228">
                <a:moveTo>
                  <a:pt x="0" y="0"/>
                </a:moveTo>
                <a:lnTo>
                  <a:pt x="3714228" y="0"/>
                </a:lnTo>
                <a:lnTo>
                  <a:pt x="3714228" y="3732893"/>
                </a:lnTo>
                <a:lnTo>
                  <a:pt x="0" y="373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132034" y="2006766"/>
            <a:ext cx="5505392" cy="1382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27"/>
              </a:lnSpc>
            </a:pPr>
            <a:r>
              <a:rPr lang="en-US" b="true" sz="4655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ICONOGRAPHY</a:t>
            </a:r>
          </a:p>
          <a:p>
            <a:pPr algn="l" marL="0" indent="0" lvl="0">
              <a:lnSpc>
                <a:spcPts val="5027"/>
              </a:lnSpc>
            </a:pPr>
            <a:r>
              <a:rPr lang="en-US" b="true" sz="4655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&amp; TRUST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132034" y="4264953"/>
            <a:ext cx="5505392" cy="220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0"/>
              </a:lnSpc>
            </a:pPr>
            <a:r>
              <a:rPr lang="en-US" sz="2050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Each icon is drawn on a consistent monoline grid, ensuring visual harmony across packaging, print and digital. Trust callouts remain secondary to flavor — always paired with the brand mark, never competing with it.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66872" y="2412995"/>
            <a:ext cx="779806" cy="785530"/>
          </a:xfrm>
          <a:custGeom>
            <a:avLst/>
            <a:gdLst/>
            <a:ahLst/>
            <a:cxnLst/>
            <a:rect r="r" b="b" t="t" l="l"/>
            <a:pathLst>
              <a:path h="785530" w="779806">
                <a:moveTo>
                  <a:pt x="0" y="0"/>
                </a:moveTo>
                <a:lnTo>
                  <a:pt x="779806" y="0"/>
                </a:lnTo>
                <a:lnTo>
                  <a:pt x="779806" y="785529"/>
                </a:lnTo>
                <a:lnTo>
                  <a:pt x="0" y="7855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158710" y="-514350"/>
            <a:ext cx="4887474" cy="11080972"/>
            <a:chOff x="0" y="0"/>
            <a:chExt cx="1287236" cy="29184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7236" cy="2918446"/>
            </a:xfrm>
            <a:custGeom>
              <a:avLst/>
              <a:gdLst/>
              <a:ahLst/>
              <a:cxnLst/>
              <a:rect r="r" b="b" t="t" l="l"/>
              <a:pathLst>
                <a:path h="2918446" w="1287236">
                  <a:moveTo>
                    <a:pt x="0" y="0"/>
                  </a:moveTo>
                  <a:lnTo>
                    <a:pt x="1287236" y="0"/>
                  </a:lnTo>
                  <a:lnTo>
                    <a:pt x="1287236" y="2918446"/>
                  </a:lnTo>
                  <a:lnTo>
                    <a:pt x="0" y="2918446"/>
                  </a:lnTo>
                  <a:close/>
                </a:path>
              </a:pathLst>
            </a:custGeom>
            <a:solidFill>
              <a:srgbClr val="0E2C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1287236" cy="2994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60808" y="1973000"/>
            <a:ext cx="722460" cy="1514346"/>
          </a:xfrm>
          <a:custGeom>
            <a:avLst/>
            <a:gdLst/>
            <a:ahLst/>
            <a:cxnLst/>
            <a:rect r="r" b="b" t="t" l="l"/>
            <a:pathLst>
              <a:path h="1514346" w="722460">
                <a:moveTo>
                  <a:pt x="0" y="0"/>
                </a:moveTo>
                <a:lnTo>
                  <a:pt x="722461" y="0"/>
                </a:lnTo>
                <a:lnTo>
                  <a:pt x="722461" y="1514346"/>
                </a:lnTo>
                <a:lnTo>
                  <a:pt x="0" y="1514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20047" y="4436250"/>
            <a:ext cx="803437" cy="784519"/>
          </a:xfrm>
          <a:custGeom>
            <a:avLst/>
            <a:gdLst/>
            <a:ahLst/>
            <a:cxnLst/>
            <a:rect r="r" b="b" t="t" l="l"/>
            <a:pathLst>
              <a:path h="784519" w="803437">
                <a:moveTo>
                  <a:pt x="0" y="0"/>
                </a:moveTo>
                <a:lnTo>
                  <a:pt x="803437" y="0"/>
                </a:lnTo>
                <a:lnTo>
                  <a:pt x="803437" y="784520"/>
                </a:lnTo>
                <a:lnTo>
                  <a:pt x="0" y="784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11407" y="7395378"/>
            <a:ext cx="615703" cy="783725"/>
          </a:xfrm>
          <a:custGeom>
            <a:avLst/>
            <a:gdLst/>
            <a:ahLst/>
            <a:cxnLst/>
            <a:rect r="r" b="b" t="t" l="l"/>
            <a:pathLst>
              <a:path h="783725" w="615703">
                <a:moveTo>
                  <a:pt x="0" y="0"/>
                </a:moveTo>
                <a:lnTo>
                  <a:pt x="615704" y="0"/>
                </a:lnTo>
                <a:lnTo>
                  <a:pt x="615704" y="783725"/>
                </a:lnTo>
                <a:lnTo>
                  <a:pt x="0" y="783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274047" y="4436337"/>
            <a:ext cx="834944" cy="791328"/>
          </a:xfrm>
          <a:custGeom>
            <a:avLst/>
            <a:gdLst/>
            <a:ahLst/>
            <a:cxnLst/>
            <a:rect r="r" b="b" t="t" l="l"/>
            <a:pathLst>
              <a:path h="791328" w="834944">
                <a:moveTo>
                  <a:pt x="0" y="0"/>
                </a:moveTo>
                <a:lnTo>
                  <a:pt x="834944" y="0"/>
                </a:lnTo>
                <a:lnTo>
                  <a:pt x="834944" y="791328"/>
                </a:lnTo>
                <a:lnTo>
                  <a:pt x="0" y="7913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281644" y="7458341"/>
            <a:ext cx="819190" cy="791354"/>
          </a:xfrm>
          <a:custGeom>
            <a:avLst/>
            <a:gdLst/>
            <a:ahLst/>
            <a:cxnLst/>
            <a:rect r="r" b="b" t="t" l="l"/>
            <a:pathLst>
              <a:path h="791354" w="819190">
                <a:moveTo>
                  <a:pt x="0" y="0"/>
                </a:moveTo>
                <a:lnTo>
                  <a:pt x="819190" y="0"/>
                </a:lnTo>
                <a:lnTo>
                  <a:pt x="819190" y="791354"/>
                </a:lnTo>
                <a:lnTo>
                  <a:pt x="0" y="7913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423437" y="2364854"/>
            <a:ext cx="1993547" cy="101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4"/>
              </a:lnSpc>
            </a:pPr>
            <a:r>
              <a:rPr lang="en-US" sz="2197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100% ORGANIC</a:t>
            </a:r>
          </a:p>
          <a:p>
            <a:pPr algn="l" marL="0" indent="0" lvl="0">
              <a:lnSpc>
                <a:spcPts val="2614"/>
              </a:lnSpc>
            </a:pPr>
            <a:r>
              <a:rPr lang="en-US" sz="2197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CERTIFIED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88797" y="2364854"/>
            <a:ext cx="1993547" cy="695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14"/>
              </a:lnSpc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PLASTIC-FREE</a:t>
            </a:r>
          </a:p>
          <a:p>
            <a:pPr algn="l" marL="0" indent="0" lvl="0">
              <a:lnSpc>
                <a:spcPts val="2614"/>
              </a:lnSpc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PACKAGING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52567" y="5394066"/>
            <a:ext cx="2137881" cy="70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sz="2197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HIGH-PROTEIN</a:t>
            </a:r>
          </a:p>
          <a:p>
            <a:pPr algn="ctr" marL="0" indent="0" lvl="0">
              <a:lnSpc>
                <a:spcPts val="2614"/>
              </a:lnSpc>
            </a:pPr>
            <a:r>
              <a:rPr lang="en-US" sz="2197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SNACK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22282" y="5394066"/>
            <a:ext cx="2137881" cy="706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14"/>
              </a:lnSpc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GLUTEN-FREE</a:t>
            </a:r>
          </a:p>
          <a:p>
            <a:pPr algn="ctr" marL="0" indent="0" lvl="0">
              <a:lnSpc>
                <a:spcPts val="2614"/>
              </a:lnSpc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ASSURED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36733" y="-514350"/>
            <a:ext cx="9306625" cy="11080972"/>
            <a:chOff x="0" y="0"/>
            <a:chExt cx="2451128" cy="29184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51128" cy="2918446"/>
            </a:xfrm>
            <a:custGeom>
              <a:avLst/>
              <a:gdLst/>
              <a:ahLst/>
              <a:cxnLst/>
              <a:rect r="r" b="b" t="t" l="l"/>
              <a:pathLst>
                <a:path h="2918446" w="2451128">
                  <a:moveTo>
                    <a:pt x="0" y="0"/>
                  </a:moveTo>
                  <a:lnTo>
                    <a:pt x="2451128" y="0"/>
                  </a:lnTo>
                  <a:lnTo>
                    <a:pt x="2451128" y="2918446"/>
                  </a:lnTo>
                  <a:lnTo>
                    <a:pt x="0" y="2918446"/>
                  </a:lnTo>
                  <a:close/>
                </a:path>
              </a:pathLst>
            </a:custGeom>
            <a:solidFill>
              <a:srgbClr val="EFEA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76200"/>
              <a:ext cx="2451128" cy="2994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99507" y="3194286"/>
            <a:ext cx="5487942" cy="184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6"/>
              </a:lnSpc>
            </a:pPr>
            <a:r>
              <a:rPr lang="en-US" b="true" sz="4256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TEXTURES</a:t>
            </a:r>
          </a:p>
          <a:p>
            <a:pPr algn="l" marL="0" indent="0" lvl="0">
              <a:lnSpc>
                <a:spcPts val="4596"/>
              </a:lnSpc>
            </a:pPr>
            <a:r>
              <a:rPr lang="en-US" b="true" sz="4256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&amp; GRAPHIC</a:t>
            </a:r>
          </a:p>
          <a:p>
            <a:pPr algn="l" marL="0" indent="0" lvl="0">
              <a:lnSpc>
                <a:spcPts val="4596"/>
              </a:lnSpc>
            </a:pPr>
            <a:r>
              <a:rPr lang="en-US" b="true" sz="4256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DEVICE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46711" y="2590120"/>
            <a:ext cx="4363986" cy="1977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Organic paper grain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Spice dust overlay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Controlled scatter field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Warm linen ground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6711" y="6283022"/>
            <a:ext cx="3553009" cy="294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Seed/circle orbit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Saffron accent — restrained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Motif construction grid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Scatter with intention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99507" y="5534993"/>
            <a:ext cx="5487942" cy="149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Making the identity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recognizable across</a:t>
            </a:r>
          </a:p>
          <a:p>
            <a:pPr algn="l" marL="0" indent="0" lvl="0">
              <a:lnSpc>
                <a:spcPts val="3855"/>
              </a:lnSpc>
            </a:pPr>
            <a:r>
              <a:rPr lang="en-US" sz="2754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every touchpoint.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46711" y="1874822"/>
            <a:ext cx="4363986" cy="53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96D1CB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Texture Language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46711" y="5567725"/>
            <a:ext cx="3553009" cy="53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  <a:spcBef>
                <a:spcPct val="0"/>
              </a:spcBef>
            </a:pPr>
            <a:r>
              <a:rPr lang="en-US" b="true" sz="2798">
                <a:solidFill>
                  <a:srgbClr val="96D1CB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Signature Motif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-10800000">
            <a:off x="-730815" y="-3192935"/>
            <a:ext cx="5261516" cy="5362054"/>
          </a:xfrm>
          <a:custGeom>
            <a:avLst/>
            <a:gdLst/>
            <a:ahLst/>
            <a:cxnLst/>
            <a:rect r="r" b="b" t="t" l="l"/>
            <a:pathLst>
              <a:path h="5362054" w="5261516">
                <a:moveTo>
                  <a:pt x="0" y="0"/>
                </a:moveTo>
                <a:lnTo>
                  <a:pt x="5261516" y="0"/>
                </a:lnTo>
                <a:lnTo>
                  <a:pt x="5261516" y="5362054"/>
                </a:lnTo>
                <a:lnTo>
                  <a:pt x="0" y="53620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5400000">
            <a:off x="15734387" y="5875747"/>
            <a:ext cx="5093944" cy="5036638"/>
          </a:xfrm>
          <a:custGeom>
            <a:avLst/>
            <a:gdLst/>
            <a:ahLst/>
            <a:cxnLst/>
            <a:rect r="r" b="b" t="t" l="l"/>
            <a:pathLst>
              <a:path h="5036638" w="5093944">
                <a:moveTo>
                  <a:pt x="0" y="0"/>
                </a:moveTo>
                <a:lnTo>
                  <a:pt x="5093945" y="0"/>
                </a:lnTo>
                <a:lnTo>
                  <a:pt x="5093945" y="5036637"/>
                </a:lnTo>
                <a:lnTo>
                  <a:pt x="0" y="50366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7000" y="8653754"/>
            <a:ext cx="646320" cy="569128"/>
          </a:xfrm>
          <a:custGeom>
            <a:avLst/>
            <a:gdLst/>
            <a:ahLst/>
            <a:cxnLst/>
            <a:rect r="r" b="b" t="t" l="l"/>
            <a:pathLst>
              <a:path h="569128" w="646320">
                <a:moveTo>
                  <a:pt x="0" y="0"/>
                </a:moveTo>
                <a:lnTo>
                  <a:pt x="646320" y="0"/>
                </a:lnTo>
                <a:lnTo>
                  <a:pt x="646320" y="569128"/>
                </a:lnTo>
                <a:lnTo>
                  <a:pt x="0" y="5691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695513" y="998268"/>
            <a:ext cx="657659" cy="567846"/>
          </a:xfrm>
          <a:custGeom>
            <a:avLst/>
            <a:gdLst/>
            <a:ahLst/>
            <a:cxnLst/>
            <a:rect r="r" b="b" t="t" l="l"/>
            <a:pathLst>
              <a:path h="567846" w="657659">
                <a:moveTo>
                  <a:pt x="0" y="0"/>
                </a:moveTo>
                <a:lnTo>
                  <a:pt x="657658" y="0"/>
                </a:lnTo>
                <a:lnTo>
                  <a:pt x="657658" y="567846"/>
                </a:lnTo>
                <a:lnTo>
                  <a:pt x="0" y="5678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6719" y="3844724"/>
            <a:ext cx="7465378" cy="5413576"/>
            <a:chOff x="0" y="0"/>
            <a:chExt cx="1966190" cy="14257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6190" cy="1425798"/>
            </a:xfrm>
            <a:custGeom>
              <a:avLst/>
              <a:gdLst/>
              <a:ahLst/>
              <a:cxnLst/>
              <a:rect r="r" b="b" t="t" l="l"/>
              <a:pathLst>
                <a:path h="1425798" w="1966190">
                  <a:moveTo>
                    <a:pt x="38371" y="0"/>
                  </a:moveTo>
                  <a:lnTo>
                    <a:pt x="1927820" y="0"/>
                  </a:lnTo>
                  <a:cubicBezTo>
                    <a:pt x="1949011" y="0"/>
                    <a:pt x="1966190" y="17179"/>
                    <a:pt x="1966190" y="38371"/>
                  </a:cubicBezTo>
                  <a:lnTo>
                    <a:pt x="1966190" y="1387427"/>
                  </a:lnTo>
                  <a:cubicBezTo>
                    <a:pt x="1966190" y="1408619"/>
                    <a:pt x="1949011" y="1425798"/>
                    <a:pt x="1927820" y="1425798"/>
                  </a:cubicBezTo>
                  <a:lnTo>
                    <a:pt x="38371" y="1425798"/>
                  </a:lnTo>
                  <a:cubicBezTo>
                    <a:pt x="17179" y="1425798"/>
                    <a:pt x="0" y="1408619"/>
                    <a:pt x="0" y="1387427"/>
                  </a:cubicBezTo>
                  <a:lnTo>
                    <a:pt x="0" y="38371"/>
                  </a:lnTo>
                  <a:cubicBezTo>
                    <a:pt x="0" y="17179"/>
                    <a:pt x="17179" y="0"/>
                    <a:pt x="38371" y="0"/>
                  </a:cubicBezTo>
                  <a:close/>
                </a:path>
              </a:pathLst>
            </a:custGeom>
            <a:solidFill>
              <a:srgbClr val="96D1C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6190" cy="146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365902" y="3844724"/>
            <a:ext cx="7465378" cy="5413576"/>
            <a:chOff x="0" y="0"/>
            <a:chExt cx="1966190" cy="14257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66190" cy="1425798"/>
            </a:xfrm>
            <a:custGeom>
              <a:avLst/>
              <a:gdLst/>
              <a:ahLst/>
              <a:cxnLst/>
              <a:rect r="r" b="b" t="t" l="l"/>
              <a:pathLst>
                <a:path h="1425798" w="1966190">
                  <a:moveTo>
                    <a:pt x="38371" y="0"/>
                  </a:moveTo>
                  <a:lnTo>
                    <a:pt x="1927820" y="0"/>
                  </a:lnTo>
                  <a:cubicBezTo>
                    <a:pt x="1949011" y="0"/>
                    <a:pt x="1966190" y="17179"/>
                    <a:pt x="1966190" y="38371"/>
                  </a:cubicBezTo>
                  <a:lnTo>
                    <a:pt x="1966190" y="1387427"/>
                  </a:lnTo>
                  <a:cubicBezTo>
                    <a:pt x="1966190" y="1408619"/>
                    <a:pt x="1949011" y="1425798"/>
                    <a:pt x="1927820" y="1425798"/>
                  </a:cubicBezTo>
                  <a:lnTo>
                    <a:pt x="38371" y="1425798"/>
                  </a:lnTo>
                  <a:cubicBezTo>
                    <a:pt x="17179" y="1425798"/>
                    <a:pt x="0" y="1408619"/>
                    <a:pt x="0" y="1387427"/>
                  </a:cubicBezTo>
                  <a:lnTo>
                    <a:pt x="0" y="38371"/>
                  </a:lnTo>
                  <a:cubicBezTo>
                    <a:pt x="0" y="17179"/>
                    <a:pt x="17179" y="0"/>
                    <a:pt x="38371" y="0"/>
                  </a:cubicBezTo>
                  <a:close/>
                </a:path>
              </a:pathLst>
            </a:custGeom>
            <a:solidFill>
              <a:srgbClr val="0E2C4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66190" cy="1463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84981" y="6393550"/>
            <a:ext cx="707423" cy="707423"/>
          </a:xfrm>
          <a:custGeom>
            <a:avLst/>
            <a:gdLst/>
            <a:ahLst/>
            <a:cxnLst/>
            <a:rect r="r" b="b" t="t" l="l"/>
            <a:pathLst>
              <a:path h="707423" w="707423">
                <a:moveTo>
                  <a:pt x="0" y="0"/>
                </a:moveTo>
                <a:lnTo>
                  <a:pt x="707423" y="0"/>
                </a:lnTo>
                <a:lnTo>
                  <a:pt x="707423" y="707423"/>
                </a:lnTo>
                <a:lnTo>
                  <a:pt x="0" y="707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184981" y="7865162"/>
            <a:ext cx="707423" cy="707423"/>
          </a:xfrm>
          <a:custGeom>
            <a:avLst/>
            <a:gdLst/>
            <a:ahLst/>
            <a:cxnLst/>
            <a:rect r="r" b="b" t="t" l="l"/>
            <a:pathLst>
              <a:path h="707423" w="707423">
                <a:moveTo>
                  <a:pt x="0" y="0"/>
                </a:moveTo>
                <a:lnTo>
                  <a:pt x="707423" y="0"/>
                </a:lnTo>
                <a:lnTo>
                  <a:pt x="707423" y="707423"/>
                </a:lnTo>
                <a:lnTo>
                  <a:pt x="0" y="707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6438" y="6287500"/>
            <a:ext cx="718815" cy="813474"/>
          </a:xfrm>
          <a:custGeom>
            <a:avLst/>
            <a:gdLst/>
            <a:ahLst/>
            <a:cxnLst/>
            <a:rect r="r" b="b" t="t" l="l"/>
            <a:pathLst>
              <a:path h="813474" w="718815">
                <a:moveTo>
                  <a:pt x="0" y="0"/>
                </a:moveTo>
                <a:lnTo>
                  <a:pt x="718815" y="0"/>
                </a:lnTo>
                <a:lnTo>
                  <a:pt x="718815" y="813473"/>
                </a:lnTo>
                <a:lnTo>
                  <a:pt x="0" y="8134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56438" y="7812136"/>
            <a:ext cx="718815" cy="813474"/>
          </a:xfrm>
          <a:custGeom>
            <a:avLst/>
            <a:gdLst/>
            <a:ahLst/>
            <a:cxnLst/>
            <a:rect r="r" b="b" t="t" l="l"/>
            <a:pathLst>
              <a:path h="813474" w="718815">
                <a:moveTo>
                  <a:pt x="0" y="0"/>
                </a:moveTo>
                <a:lnTo>
                  <a:pt x="718815" y="0"/>
                </a:lnTo>
                <a:lnTo>
                  <a:pt x="718815" y="813474"/>
                </a:lnTo>
                <a:lnTo>
                  <a:pt x="0" y="8134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97706" y="1520006"/>
            <a:ext cx="14292588" cy="101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LAYOUT SYSTEM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048851" y="6211300"/>
            <a:ext cx="5188980" cy="69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Flavor name leads hierarchy; brand name anchors base; ingredient cue supports story.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892715" y="6211300"/>
            <a:ext cx="5348030" cy="69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Trust callouts remain secondary; generous editorial whitespace throughout all formats.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48851" y="7682911"/>
            <a:ext cx="5188980" cy="69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Modular grid scales across packaging, Instagram post, and print layout applications.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92715" y="7682911"/>
            <a:ext cx="5348030" cy="694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65"/>
              </a:lnSpc>
              <a:spcBef>
                <a:spcPct val="0"/>
              </a:spcBef>
            </a:pPr>
            <a:r>
              <a:rPr lang="en-US" sz="1903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Consistent margins, type scale, and visual rhythm unify every brand touchpoint.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56719" y="2917583"/>
            <a:ext cx="7465378" cy="2764805"/>
            <a:chOff x="0" y="0"/>
            <a:chExt cx="1156582" cy="42834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56582" cy="428341"/>
            </a:xfrm>
            <a:custGeom>
              <a:avLst/>
              <a:gdLst/>
              <a:ahLst/>
              <a:cxnLst/>
              <a:rect r="r" b="b" t="t" l="l"/>
              <a:pathLst>
                <a:path h="428341" w="1156582">
                  <a:moveTo>
                    <a:pt x="37334" y="0"/>
                  </a:moveTo>
                  <a:lnTo>
                    <a:pt x="1119249" y="0"/>
                  </a:lnTo>
                  <a:cubicBezTo>
                    <a:pt x="1129150" y="0"/>
                    <a:pt x="1138646" y="3933"/>
                    <a:pt x="1145648" y="10935"/>
                  </a:cubicBezTo>
                  <a:cubicBezTo>
                    <a:pt x="1152649" y="17936"/>
                    <a:pt x="1156582" y="27432"/>
                    <a:pt x="1156582" y="37334"/>
                  </a:cubicBezTo>
                  <a:lnTo>
                    <a:pt x="1156582" y="391007"/>
                  </a:lnTo>
                  <a:cubicBezTo>
                    <a:pt x="1156582" y="411626"/>
                    <a:pt x="1139868" y="428341"/>
                    <a:pt x="1119249" y="428341"/>
                  </a:cubicBezTo>
                  <a:lnTo>
                    <a:pt x="37334" y="428341"/>
                  </a:lnTo>
                  <a:cubicBezTo>
                    <a:pt x="27432" y="428341"/>
                    <a:pt x="17936" y="424407"/>
                    <a:pt x="10935" y="417406"/>
                  </a:cubicBezTo>
                  <a:cubicBezTo>
                    <a:pt x="3933" y="410404"/>
                    <a:pt x="0" y="400908"/>
                    <a:pt x="0" y="391007"/>
                  </a:cubicBezTo>
                  <a:lnTo>
                    <a:pt x="0" y="37334"/>
                  </a:lnTo>
                  <a:cubicBezTo>
                    <a:pt x="0" y="16715"/>
                    <a:pt x="16715" y="0"/>
                    <a:pt x="37334" y="0"/>
                  </a:cubicBezTo>
                  <a:close/>
                </a:path>
              </a:pathLst>
            </a:custGeom>
            <a:solidFill>
              <a:srgbClr val="0E2C4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365902" y="2917583"/>
            <a:ext cx="7465378" cy="2764805"/>
            <a:chOff x="0" y="0"/>
            <a:chExt cx="1156582" cy="42834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56582" cy="428341"/>
            </a:xfrm>
            <a:custGeom>
              <a:avLst/>
              <a:gdLst/>
              <a:ahLst/>
              <a:cxnLst/>
              <a:rect r="r" b="b" t="t" l="l"/>
              <a:pathLst>
                <a:path h="428341" w="1156582">
                  <a:moveTo>
                    <a:pt x="37334" y="0"/>
                  </a:moveTo>
                  <a:lnTo>
                    <a:pt x="1119249" y="0"/>
                  </a:lnTo>
                  <a:cubicBezTo>
                    <a:pt x="1129150" y="0"/>
                    <a:pt x="1138646" y="3933"/>
                    <a:pt x="1145648" y="10935"/>
                  </a:cubicBezTo>
                  <a:cubicBezTo>
                    <a:pt x="1152649" y="17936"/>
                    <a:pt x="1156582" y="27432"/>
                    <a:pt x="1156582" y="37334"/>
                  </a:cubicBezTo>
                  <a:lnTo>
                    <a:pt x="1156582" y="391007"/>
                  </a:lnTo>
                  <a:cubicBezTo>
                    <a:pt x="1156582" y="411626"/>
                    <a:pt x="1139868" y="428341"/>
                    <a:pt x="1119249" y="428341"/>
                  </a:cubicBezTo>
                  <a:lnTo>
                    <a:pt x="37334" y="428341"/>
                  </a:lnTo>
                  <a:cubicBezTo>
                    <a:pt x="27432" y="428341"/>
                    <a:pt x="17936" y="424407"/>
                    <a:pt x="10935" y="417406"/>
                  </a:cubicBezTo>
                  <a:cubicBezTo>
                    <a:pt x="3933" y="410404"/>
                    <a:pt x="0" y="400908"/>
                    <a:pt x="0" y="391007"/>
                  </a:cubicBezTo>
                  <a:lnTo>
                    <a:pt x="0" y="37334"/>
                  </a:lnTo>
                  <a:cubicBezTo>
                    <a:pt x="0" y="16715"/>
                    <a:pt x="16715" y="0"/>
                    <a:pt x="3733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7476" r="0" b="-75034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16240745" y="2049424"/>
            <a:ext cx="566947" cy="568368"/>
          </a:xfrm>
          <a:custGeom>
            <a:avLst/>
            <a:gdLst/>
            <a:ahLst/>
            <a:cxnLst/>
            <a:rect r="r" b="b" t="t" l="l"/>
            <a:pathLst>
              <a:path h="568368" w="566947">
                <a:moveTo>
                  <a:pt x="0" y="0"/>
                </a:moveTo>
                <a:lnTo>
                  <a:pt x="566947" y="0"/>
                </a:lnTo>
                <a:lnTo>
                  <a:pt x="566947" y="568368"/>
                </a:lnTo>
                <a:lnTo>
                  <a:pt x="0" y="5683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56719" y="2049424"/>
            <a:ext cx="566947" cy="568368"/>
          </a:xfrm>
          <a:custGeom>
            <a:avLst/>
            <a:gdLst/>
            <a:ahLst/>
            <a:cxnLst/>
            <a:rect r="r" b="b" t="t" l="l"/>
            <a:pathLst>
              <a:path h="568368" w="566947">
                <a:moveTo>
                  <a:pt x="0" y="0"/>
                </a:moveTo>
                <a:lnTo>
                  <a:pt x="566948" y="0"/>
                </a:lnTo>
                <a:lnTo>
                  <a:pt x="566948" y="568368"/>
                </a:lnTo>
                <a:lnTo>
                  <a:pt x="0" y="5683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3447829" y="3905117"/>
            <a:ext cx="4157934" cy="789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8"/>
              </a:lnSpc>
            </a:pPr>
            <a:r>
              <a:rPr lang="en-US" sz="5217">
                <a:solidFill>
                  <a:srgbClr val="F5EFE0"/>
                </a:solidFill>
                <a:latin typeface="Ahamono"/>
                <a:ea typeface="Ahamono"/>
                <a:cs typeface="Ahamono"/>
                <a:sym typeface="Ahamono"/>
              </a:rPr>
              <a:t>SATTVAMUNCH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2773054" y="3805099"/>
            <a:ext cx="589356" cy="989773"/>
          </a:xfrm>
          <a:custGeom>
            <a:avLst/>
            <a:gdLst/>
            <a:ahLst/>
            <a:cxnLst/>
            <a:rect r="r" b="b" t="t" l="l"/>
            <a:pathLst>
              <a:path h="989773" w="589356">
                <a:moveTo>
                  <a:pt x="0" y="0"/>
                </a:moveTo>
                <a:lnTo>
                  <a:pt x="589356" y="0"/>
                </a:lnTo>
                <a:lnTo>
                  <a:pt x="589356" y="989772"/>
                </a:lnTo>
                <a:lnTo>
                  <a:pt x="0" y="98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4841" t="-21109" r="-72871" b="-2639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74933" y="4750292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7"/>
                </a:lnTo>
                <a:lnTo>
                  <a:pt x="0" y="336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74933" y="6029505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6"/>
                </a:lnTo>
                <a:lnTo>
                  <a:pt x="0" y="33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74933" y="6815635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6"/>
                </a:lnTo>
                <a:lnTo>
                  <a:pt x="0" y="33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74933" y="7601765"/>
            <a:ext cx="336156" cy="336156"/>
          </a:xfrm>
          <a:custGeom>
            <a:avLst/>
            <a:gdLst/>
            <a:ahLst/>
            <a:cxnLst/>
            <a:rect r="r" b="b" t="t" l="l"/>
            <a:pathLst>
              <a:path h="336156" w="336156">
                <a:moveTo>
                  <a:pt x="0" y="0"/>
                </a:moveTo>
                <a:lnTo>
                  <a:pt x="336157" y="0"/>
                </a:lnTo>
                <a:lnTo>
                  <a:pt x="336157" y="336156"/>
                </a:lnTo>
                <a:lnTo>
                  <a:pt x="0" y="3361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8698249" y="9492828"/>
            <a:ext cx="1580401" cy="1588343"/>
          </a:xfrm>
          <a:custGeom>
            <a:avLst/>
            <a:gdLst/>
            <a:ahLst/>
            <a:cxnLst/>
            <a:rect r="r" b="b" t="t" l="l"/>
            <a:pathLst>
              <a:path h="1588343" w="1580401">
                <a:moveTo>
                  <a:pt x="0" y="0"/>
                </a:moveTo>
                <a:lnTo>
                  <a:pt x="1580402" y="0"/>
                </a:lnTo>
                <a:lnTo>
                  <a:pt x="1580402" y="1588344"/>
                </a:lnTo>
                <a:lnTo>
                  <a:pt x="0" y="15883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498952" y="-469111"/>
            <a:ext cx="9642952" cy="11104673"/>
            <a:chOff x="0" y="0"/>
            <a:chExt cx="1493946" cy="17204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93946" cy="1720404"/>
            </a:xfrm>
            <a:custGeom>
              <a:avLst/>
              <a:gdLst/>
              <a:ahLst/>
              <a:cxnLst/>
              <a:rect r="r" b="b" t="t" l="l"/>
              <a:pathLst>
                <a:path h="1720404" w="1493946">
                  <a:moveTo>
                    <a:pt x="30509" y="0"/>
                  </a:moveTo>
                  <a:lnTo>
                    <a:pt x="1463437" y="0"/>
                  </a:lnTo>
                  <a:cubicBezTo>
                    <a:pt x="1480286" y="0"/>
                    <a:pt x="1493946" y="13659"/>
                    <a:pt x="1493946" y="30509"/>
                  </a:cubicBezTo>
                  <a:lnTo>
                    <a:pt x="1493946" y="1689896"/>
                  </a:lnTo>
                  <a:cubicBezTo>
                    <a:pt x="1493946" y="1706745"/>
                    <a:pt x="1480286" y="1720404"/>
                    <a:pt x="1463437" y="1720404"/>
                  </a:cubicBezTo>
                  <a:lnTo>
                    <a:pt x="30509" y="1720404"/>
                  </a:lnTo>
                  <a:cubicBezTo>
                    <a:pt x="13659" y="1720404"/>
                    <a:pt x="0" y="1706745"/>
                    <a:pt x="0" y="1689896"/>
                  </a:cubicBezTo>
                  <a:lnTo>
                    <a:pt x="0" y="30509"/>
                  </a:lnTo>
                  <a:cubicBezTo>
                    <a:pt x="0" y="13659"/>
                    <a:pt x="13659" y="0"/>
                    <a:pt x="30509" y="0"/>
                  </a:cubicBezTo>
                  <a:close/>
                </a:path>
              </a:pathLst>
            </a:custGeom>
            <a:blipFill>
              <a:blip r:embed="rId6"/>
              <a:stretch>
                <a:fillRect l="-7579" t="0" r="-7579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-10800000">
            <a:off x="15402186" y="-2046951"/>
            <a:ext cx="3714228" cy="3732892"/>
          </a:xfrm>
          <a:custGeom>
            <a:avLst/>
            <a:gdLst/>
            <a:ahLst/>
            <a:cxnLst/>
            <a:rect r="r" b="b" t="t" l="l"/>
            <a:pathLst>
              <a:path h="3732892" w="3714228">
                <a:moveTo>
                  <a:pt x="0" y="0"/>
                </a:moveTo>
                <a:lnTo>
                  <a:pt x="3714228" y="0"/>
                </a:lnTo>
                <a:lnTo>
                  <a:pt x="3714228" y="3732893"/>
                </a:lnTo>
                <a:lnTo>
                  <a:pt x="0" y="37328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78651" y="2257442"/>
            <a:ext cx="6456074" cy="187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MOTION</a:t>
            </a:r>
          </a:p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LANGUAGE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64727" y="4664567"/>
            <a:ext cx="5129682" cy="4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2"/>
              </a:lnSpc>
              <a:spcBef>
                <a:spcPct val="0"/>
              </a:spcBef>
            </a:pPr>
            <a:r>
              <a:rPr lang="en-US" sz="210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Unhurried, warm &amp; tactile pacing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64727" y="5899768"/>
            <a:ext cx="5129682" cy="4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2"/>
              </a:lnSpc>
              <a:spcBef>
                <a:spcPct val="0"/>
              </a:spcBef>
            </a:pPr>
            <a:r>
              <a:rPr lang="en-US" sz="210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Seed journey transitions &amp; parallax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4727" y="6685898"/>
            <a:ext cx="5129682" cy="40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2"/>
              </a:lnSpc>
              <a:spcBef>
                <a:spcPct val="0"/>
              </a:spcBef>
            </a:pPr>
            <a:r>
              <a:rPr lang="en-US" sz="210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Ingredient drift &amp; restrained kinetic type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64727" y="7472028"/>
            <a:ext cx="5129682" cy="775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52"/>
              </a:lnSpc>
              <a:spcBef>
                <a:spcPct val="0"/>
              </a:spcBef>
            </a:pPr>
            <a:r>
              <a:rPr lang="en-US" sz="2109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Storyboard: India → Japan → Middle East → Italy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88258" y="1214160"/>
            <a:ext cx="4096750" cy="2567770"/>
            <a:chOff x="0" y="0"/>
            <a:chExt cx="634694" cy="3978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4694" cy="397815"/>
            </a:xfrm>
            <a:custGeom>
              <a:avLst/>
              <a:gdLst/>
              <a:ahLst/>
              <a:cxnLst/>
              <a:rect r="r" b="b" t="t" l="l"/>
              <a:pathLst>
                <a:path h="397815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326003"/>
                  </a:lnTo>
                  <a:cubicBezTo>
                    <a:pt x="634694" y="345049"/>
                    <a:pt x="627128" y="363315"/>
                    <a:pt x="613661" y="376782"/>
                  </a:cubicBezTo>
                  <a:cubicBezTo>
                    <a:pt x="600194" y="390249"/>
                    <a:pt x="581928" y="397815"/>
                    <a:pt x="562882" y="397815"/>
                  </a:cubicBezTo>
                  <a:lnTo>
                    <a:pt x="71811" y="397815"/>
                  </a:lnTo>
                  <a:cubicBezTo>
                    <a:pt x="52766" y="397815"/>
                    <a:pt x="34500" y="390249"/>
                    <a:pt x="21033" y="376782"/>
                  </a:cubicBezTo>
                  <a:cubicBezTo>
                    <a:pt x="7566" y="363315"/>
                    <a:pt x="0" y="345049"/>
                    <a:pt x="0" y="326003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048" r="0" b="-304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77144" y="1214160"/>
            <a:ext cx="6268928" cy="2567770"/>
            <a:chOff x="0" y="0"/>
            <a:chExt cx="971221" cy="3978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1221" cy="397815"/>
            </a:xfrm>
            <a:custGeom>
              <a:avLst/>
              <a:gdLst/>
              <a:ahLst/>
              <a:cxnLst/>
              <a:rect r="r" b="b" t="t" l="l"/>
              <a:pathLst>
                <a:path h="397815" w="971221">
                  <a:moveTo>
                    <a:pt x="46929" y="0"/>
                  </a:moveTo>
                  <a:lnTo>
                    <a:pt x="924292" y="0"/>
                  </a:lnTo>
                  <a:cubicBezTo>
                    <a:pt x="936739" y="0"/>
                    <a:pt x="948675" y="4944"/>
                    <a:pt x="957476" y="13745"/>
                  </a:cubicBezTo>
                  <a:cubicBezTo>
                    <a:pt x="966277" y="22546"/>
                    <a:pt x="971221" y="34482"/>
                    <a:pt x="971221" y="46929"/>
                  </a:cubicBezTo>
                  <a:lnTo>
                    <a:pt x="971221" y="350886"/>
                  </a:lnTo>
                  <a:cubicBezTo>
                    <a:pt x="971221" y="363332"/>
                    <a:pt x="966277" y="375269"/>
                    <a:pt x="957476" y="384070"/>
                  </a:cubicBezTo>
                  <a:cubicBezTo>
                    <a:pt x="948675" y="392870"/>
                    <a:pt x="936739" y="397815"/>
                    <a:pt x="924292" y="397815"/>
                  </a:cubicBezTo>
                  <a:lnTo>
                    <a:pt x="46929" y="397815"/>
                  </a:lnTo>
                  <a:cubicBezTo>
                    <a:pt x="34482" y="397815"/>
                    <a:pt x="22546" y="392870"/>
                    <a:pt x="13745" y="384070"/>
                  </a:cubicBezTo>
                  <a:cubicBezTo>
                    <a:pt x="4944" y="375269"/>
                    <a:pt x="0" y="363332"/>
                    <a:pt x="0" y="350886"/>
                  </a:cubicBezTo>
                  <a:lnTo>
                    <a:pt x="0" y="46929"/>
                  </a:lnTo>
                  <a:cubicBezTo>
                    <a:pt x="0" y="34482"/>
                    <a:pt x="4944" y="22546"/>
                    <a:pt x="13745" y="13745"/>
                  </a:cubicBezTo>
                  <a:cubicBezTo>
                    <a:pt x="22546" y="4944"/>
                    <a:pt x="34482" y="0"/>
                    <a:pt x="46929" y="0"/>
                  </a:cubicBezTo>
                  <a:close/>
                </a:path>
              </a:pathLst>
            </a:custGeom>
            <a:blipFill>
              <a:blip r:embed="rId3"/>
              <a:stretch>
                <a:fillRect l="-568" t="0" r="-568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788258" y="4149601"/>
            <a:ext cx="4096750" cy="4923239"/>
            <a:chOff x="0" y="0"/>
            <a:chExt cx="634694" cy="7627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34694" cy="762738"/>
            </a:xfrm>
            <a:custGeom>
              <a:avLst/>
              <a:gdLst/>
              <a:ahLst/>
              <a:cxnLst/>
              <a:rect r="r" b="b" t="t" l="l"/>
              <a:pathLst>
                <a:path h="762738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690927"/>
                  </a:lnTo>
                  <a:cubicBezTo>
                    <a:pt x="634694" y="709973"/>
                    <a:pt x="627128" y="728238"/>
                    <a:pt x="613661" y="741705"/>
                  </a:cubicBezTo>
                  <a:cubicBezTo>
                    <a:pt x="600194" y="755173"/>
                    <a:pt x="581928" y="762738"/>
                    <a:pt x="562882" y="762738"/>
                  </a:cubicBezTo>
                  <a:lnTo>
                    <a:pt x="71811" y="762738"/>
                  </a:lnTo>
                  <a:cubicBezTo>
                    <a:pt x="52766" y="762738"/>
                    <a:pt x="34500" y="755173"/>
                    <a:pt x="21033" y="741705"/>
                  </a:cubicBezTo>
                  <a:cubicBezTo>
                    <a:pt x="7566" y="728238"/>
                    <a:pt x="0" y="709973"/>
                    <a:pt x="0" y="690927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252" r="0" b="-1225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17548" y="1214160"/>
            <a:ext cx="4096750" cy="7858679"/>
            <a:chOff x="0" y="0"/>
            <a:chExt cx="634694" cy="12175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4694" cy="1217515"/>
            </a:xfrm>
            <a:custGeom>
              <a:avLst/>
              <a:gdLst/>
              <a:ahLst/>
              <a:cxnLst/>
              <a:rect r="r" b="b" t="t" l="l"/>
              <a:pathLst>
                <a:path h="1217515" w="634694">
                  <a:moveTo>
                    <a:pt x="71811" y="0"/>
                  </a:moveTo>
                  <a:lnTo>
                    <a:pt x="562882" y="0"/>
                  </a:lnTo>
                  <a:cubicBezTo>
                    <a:pt x="581928" y="0"/>
                    <a:pt x="600194" y="7566"/>
                    <a:pt x="613661" y="21033"/>
                  </a:cubicBezTo>
                  <a:cubicBezTo>
                    <a:pt x="627128" y="34500"/>
                    <a:pt x="634694" y="52766"/>
                    <a:pt x="634694" y="71811"/>
                  </a:cubicBezTo>
                  <a:lnTo>
                    <a:pt x="634694" y="1145704"/>
                  </a:lnTo>
                  <a:cubicBezTo>
                    <a:pt x="634694" y="1164749"/>
                    <a:pt x="627128" y="1183015"/>
                    <a:pt x="613661" y="1196482"/>
                  </a:cubicBezTo>
                  <a:cubicBezTo>
                    <a:pt x="600194" y="1209949"/>
                    <a:pt x="581928" y="1217515"/>
                    <a:pt x="562882" y="1217515"/>
                  </a:cubicBezTo>
                  <a:lnTo>
                    <a:pt x="71811" y="1217515"/>
                  </a:lnTo>
                  <a:cubicBezTo>
                    <a:pt x="52766" y="1217515"/>
                    <a:pt x="34500" y="1209949"/>
                    <a:pt x="21033" y="1196482"/>
                  </a:cubicBezTo>
                  <a:cubicBezTo>
                    <a:pt x="7566" y="1183015"/>
                    <a:pt x="0" y="1164749"/>
                    <a:pt x="0" y="1145704"/>
                  </a:cubicBezTo>
                  <a:lnTo>
                    <a:pt x="0" y="71811"/>
                  </a:lnTo>
                  <a:cubicBezTo>
                    <a:pt x="0" y="52766"/>
                    <a:pt x="7566" y="34500"/>
                    <a:pt x="21033" y="21033"/>
                  </a:cubicBezTo>
                  <a:cubicBezTo>
                    <a:pt x="34500" y="7566"/>
                    <a:pt x="52766" y="0"/>
                    <a:pt x="71811" y="0"/>
                  </a:cubicBezTo>
                  <a:close/>
                </a:path>
              </a:pathLst>
            </a:custGeom>
            <a:blipFill>
              <a:blip r:embed="rId5"/>
              <a:stretch>
                <a:fillRect l="-23373" t="0" r="-23373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794104" y="1834963"/>
            <a:ext cx="99082" cy="166399"/>
          </a:xfrm>
          <a:custGeom>
            <a:avLst/>
            <a:gdLst/>
            <a:ahLst/>
            <a:cxnLst/>
            <a:rect r="r" b="b" t="t" l="l"/>
            <a:pathLst>
              <a:path h="166399" w="99082">
                <a:moveTo>
                  <a:pt x="0" y="0"/>
                </a:moveTo>
                <a:lnTo>
                  <a:pt x="99082" y="0"/>
                </a:lnTo>
                <a:lnTo>
                  <a:pt x="99082" y="166400"/>
                </a:lnTo>
                <a:lnTo>
                  <a:pt x="0" y="1664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4841" t="-21109" r="-72871" b="-2639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77144" y="4408846"/>
            <a:ext cx="6268928" cy="187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UI DESIGN</a:t>
            </a:r>
          </a:p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0E2C47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LANGUAGE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77144" y="6506445"/>
            <a:ext cx="6268928" cy="2670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6"/>
              </a:lnSpc>
            </a:pPr>
            <a:r>
              <a:rPr lang="en-US" sz="2504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Translate identity into a premium digital experience.</a:t>
            </a:r>
          </a:p>
          <a:p>
            <a:pPr algn="l" marL="0" indent="0" lvl="0">
              <a:lnSpc>
                <a:spcPts val="3506"/>
              </a:lnSpc>
            </a:pPr>
            <a:r>
              <a:rPr lang="en-US" sz="2504">
                <a:solidFill>
                  <a:srgbClr val="0E2C47"/>
                </a:solidFill>
                <a:latin typeface="Tabarra Sans"/>
                <a:ea typeface="Tabarra Sans"/>
                <a:cs typeface="Tabarra Sans"/>
                <a:sym typeface="Tabarra Sans"/>
              </a:rPr>
              <a:t>Soft-corner buttons; warm ivory canvas; earth-tone typography; flavor accent states; generous spacing; editorial image crops; tactile hover &amp; micro-motion cues.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67791" y="1436702"/>
            <a:ext cx="82360" cy="1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</a:pPr>
            <a:r>
              <a:rPr lang="en-US" sz="200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Flavors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00429" y="1436702"/>
            <a:ext cx="108573" cy="1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</a:pPr>
            <a:r>
              <a:rPr lang="en-US" sz="200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Our Story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33542" y="1436702"/>
            <a:ext cx="187179" cy="1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</a:pPr>
            <a:r>
              <a:rPr lang="en-US" sz="200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Organic Promise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173120" y="1436702"/>
            <a:ext cx="56577" cy="19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"/>
              </a:lnSpc>
            </a:pPr>
            <a:r>
              <a:rPr lang="en-US" sz="200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Shop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91818" y="1757310"/>
            <a:ext cx="1177289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  <a:spcBef>
                <a:spcPct val="0"/>
              </a:spcBef>
            </a:pPr>
            <a:r>
              <a:rPr lang="en-US" sz="99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Ancient grain, modern palate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49368" y="3435260"/>
            <a:ext cx="144125" cy="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"/>
              </a:lnSpc>
              <a:spcBef>
                <a:spcPct val="0"/>
              </a:spcBef>
            </a:pPr>
            <a:r>
              <a:rPr lang="en-US" sz="254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Shop Now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47693" y="3435260"/>
            <a:ext cx="144125" cy="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"/>
              </a:lnSpc>
              <a:spcBef>
                <a:spcPct val="0"/>
              </a:spcBef>
            </a:pPr>
            <a:r>
              <a:rPr lang="en-US" sz="254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Shop Now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47994" y="3435260"/>
            <a:ext cx="144125" cy="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"/>
              </a:lnSpc>
              <a:spcBef>
                <a:spcPct val="0"/>
              </a:spcBef>
            </a:pPr>
            <a:r>
              <a:rPr lang="en-US" sz="254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Shop Now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72901" y="3435260"/>
            <a:ext cx="144125" cy="46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"/>
              </a:lnSpc>
              <a:spcBef>
                <a:spcPct val="0"/>
              </a:spcBef>
            </a:pPr>
            <a:r>
              <a:rPr lang="en-US" sz="254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Shop Now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52293" y="2862098"/>
            <a:ext cx="335525" cy="12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"/>
              </a:lnSpc>
              <a:spcBef>
                <a:spcPct val="0"/>
              </a:spcBef>
            </a:pP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Smoke &amp; Pepper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53668" y="2862098"/>
            <a:ext cx="335525" cy="12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"/>
              </a:lnSpc>
              <a:spcBef>
                <a:spcPct val="0"/>
              </a:spcBef>
            </a:pP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G</a:t>
            </a: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olden Sesame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42468" y="2896745"/>
            <a:ext cx="335525" cy="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"/>
              </a:lnSpc>
              <a:spcBef>
                <a:spcPct val="0"/>
              </a:spcBef>
            </a:pP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P</a:t>
            </a: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om Rose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154268" y="2862098"/>
            <a:ext cx="335525" cy="128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"/>
              </a:lnSpc>
              <a:spcBef>
                <a:spcPct val="0"/>
              </a:spcBef>
            </a:pP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Truffl</a:t>
            </a:r>
            <a:r>
              <a:rPr lang="en-US" sz="409">
                <a:solidFill>
                  <a:srgbClr val="3B2314"/>
                </a:solidFill>
                <a:latin typeface="Arima"/>
                <a:ea typeface="Arima"/>
                <a:cs typeface="Arima"/>
                <a:sym typeface="Arima"/>
              </a:rPr>
              <a:t>e Rosemary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66570" y="2028689"/>
            <a:ext cx="354150" cy="65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7"/>
              </a:lnSpc>
            </a:pPr>
            <a:r>
              <a:rPr lang="en-US" sz="367">
                <a:solidFill>
                  <a:srgbClr val="3B2314"/>
                </a:solidFill>
                <a:latin typeface="Ahamono"/>
                <a:ea typeface="Ahamono"/>
                <a:cs typeface="Ahamono"/>
                <a:sym typeface="Ahamono"/>
              </a:rPr>
              <a:t>SATTVAMUNCH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29570" y="3211675"/>
            <a:ext cx="618049" cy="26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Smoke</a:t>
            </a:r>
            <a:r>
              <a:rPr lang="en-US" b="true" sz="8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&amp; Pepper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51747" y="3199394"/>
            <a:ext cx="922277" cy="9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"/>
              </a:lnSpc>
            </a:pPr>
            <a:r>
              <a:rPr lang="en-US" sz="6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Smoke</a:t>
            </a:r>
            <a:r>
              <a:rPr lang="en-US" b="true" sz="6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&amp; Pepper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04147" y="3348249"/>
            <a:ext cx="769877" cy="1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"/>
              </a:lnSpc>
            </a:pP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Smoked</a:t>
            </a: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 paprika, black pepper &amp; amchur — bold Indian street-food heat.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53370" y="4527775"/>
            <a:ext cx="618049" cy="26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Golden</a:t>
            </a:r>
            <a:r>
              <a:rPr lang="en-US" b="true" sz="8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Sesame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51747" y="4515493"/>
            <a:ext cx="922277" cy="9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"/>
              </a:lnSpc>
            </a:pPr>
            <a:r>
              <a:rPr lang="en-US" sz="6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Golden</a:t>
            </a:r>
            <a:r>
              <a:rPr lang="en-US" b="true" sz="6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Sesame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04147" y="4664349"/>
            <a:ext cx="769877" cy="12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"/>
              </a:lnSpc>
            </a:pP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Roasted</a:t>
            </a: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 kinako, jaggery &amp; matcha — toasty, gently sweet.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93582" y="5802289"/>
            <a:ext cx="423325" cy="26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Pom</a:t>
            </a:r>
            <a:r>
              <a:rPr lang="en-US" b="true" sz="8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Rose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51747" y="5787680"/>
            <a:ext cx="922277" cy="9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"/>
              </a:lnSpc>
            </a:pPr>
            <a:r>
              <a:rPr lang="en-US" sz="6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Pom</a:t>
            </a:r>
            <a:r>
              <a:rPr lang="en-US" b="true" sz="6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Rose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604147" y="5936535"/>
            <a:ext cx="769877" cy="12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"/>
              </a:lnSpc>
            </a:pP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Anard</a:t>
            </a: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ana, sumac &amp; rose petals — sharp, floral, unmistakably tangy.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96220" y="7007881"/>
            <a:ext cx="618049" cy="23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"/>
              </a:lnSpc>
            </a:pPr>
            <a:r>
              <a:rPr lang="en-US" sz="7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Truffle</a:t>
            </a:r>
            <a:r>
              <a:rPr lang="en-US" b="true" sz="7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Rosemary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451747" y="7017406"/>
            <a:ext cx="922277" cy="9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"/>
              </a:lnSpc>
            </a:pPr>
            <a:r>
              <a:rPr lang="en-US" sz="600" b="true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Truffle</a:t>
            </a:r>
            <a:r>
              <a:rPr lang="en-US" b="true" sz="600">
                <a:solidFill>
                  <a:srgbClr val="000000"/>
                </a:solidFill>
                <a:latin typeface="Arima Bold"/>
                <a:ea typeface="Arima Bold"/>
                <a:cs typeface="Arima Bold"/>
                <a:sym typeface="Arima Bold"/>
              </a:rPr>
              <a:t> Rosemary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604147" y="7170451"/>
            <a:ext cx="769877" cy="19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"/>
              </a:lnSpc>
            </a:pP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Black</a:t>
            </a:r>
            <a:r>
              <a:rPr lang="en-US" sz="400">
                <a:solidFill>
                  <a:srgbClr val="000000"/>
                </a:solidFill>
                <a:latin typeface="Arima"/>
                <a:ea typeface="Arima"/>
                <a:cs typeface="Arima"/>
                <a:sym typeface="Arima"/>
              </a:rPr>
              <a:t> truffle salt, roasted garlic &amp; rosemary — quiet, earthy luxury.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604147" y="3695777"/>
            <a:ext cx="618049" cy="13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b="true" sz="800">
                <a:solidFill>
                  <a:srgbClr val="F5EFE0"/>
                </a:solidFill>
                <a:latin typeface="Arima Bold"/>
                <a:ea typeface="Arima Bold"/>
                <a:cs typeface="Arima Bold"/>
                <a:sym typeface="Arima Bold"/>
              </a:rPr>
              <a:t>Add to Cart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611632" y="7479956"/>
            <a:ext cx="618049" cy="13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b="true" sz="800">
                <a:solidFill>
                  <a:srgbClr val="F5EFE0"/>
                </a:solidFill>
                <a:latin typeface="Arima Bold"/>
                <a:ea typeface="Arima Bold"/>
                <a:cs typeface="Arima Bold"/>
                <a:sym typeface="Arima Bold"/>
              </a:rPr>
              <a:t>Add to Cart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604147" y="6263018"/>
            <a:ext cx="618049" cy="13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b="true" sz="800">
                <a:solidFill>
                  <a:srgbClr val="F5EFE0"/>
                </a:solidFill>
                <a:latin typeface="Arima Bold"/>
                <a:ea typeface="Arima Bold"/>
                <a:cs typeface="Arima Bold"/>
                <a:sym typeface="Arima Bold"/>
              </a:rPr>
              <a:t>Add to Cart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11632" y="5018819"/>
            <a:ext cx="618049" cy="13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b="true" sz="800">
                <a:solidFill>
                  <a:srgbClr val="F5EFE0"/>
                </a:solidFill>
                <a:latin typeface="Arima Bold"/>
                <a:ea typeface="Arima Bold"/>
                <a:cs typeface="Arima Bold"/>
                <a:sym typeface="Arima Bold"/>
              </a:rPr>
              <a:t>Add to Cart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2C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4234" y="3151225"/>
            <a:ext cx="6781858" cy="1873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0"/>
              </a:lnSpc>
            </a:pPr>
            <a:r>
              <a:rPr lang="en-US" b="true" sz="6352">
                <a:solidFill>
                  <a:srgbClr val="EFEAE6"/>
                </a:solidFill>
                <a:latin typeface="Tabarra Sans Heavy"/>
                <a:ea typeface="Tabarra Sans Heavy"/>
                <a:cs typeface="Tabarra Sans Heavy"/>
                <a:sym typeface="Tabarra Sans Heavy"/>
              </a:rPr>
              <a:t>COMPLETE BRAND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4234" y="5587644"/>
            <a:ext cx="5505392" cy="2763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SattvaMunch should feel like discovering something ancient made newly relevant: warm paper, roasted aroma, crisp texture, restrained Indian character and a passport of global flavour. Purity without clinical. Heritage without traditionalist. Premium without precious.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44803" y="7709955"/>
            <a:ext cx="5505392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Art Direction Summary: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44803" y="8328164"/>
            <a:ext cx="5505392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S</a:t>
            </a:r>
            <a:r>
              <a:rPr lang="en-US" sz="2197">
                <a:solidFill>
                  <a:srgbClr val="EFEAE6"/>
                </a:solidFill>
                <a:latin typeface="Tabarra Sans"/>
                <a:ea typeface="Tabarra Sans"/>
                <a:cs typeface="Tabarra Sans"/>
                <a:sym typeface="Tabarra Sans"/>
              </a:rPr>
              <a:t>attvaMunch Brand System — v1.0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10772948" y="-4028466"/>
            <a:ext cx="8628930" cy="8672292"/>
          </a:xfrm>
          <a:custGeom>
            <a:avLst/>
            <a:gdLst/>
            <a:ahLst/>
            <a:cxnLst/>
            <a:rect r="r" b="b" t="t" l="l"/>
            <a:pathLst>
              <a:path h="8672292" w="8628930">
                <a:moveTo>
                  <a:pt x="0" y="0"/>
                </a:moveTo>
                <a:lnTo>
                  <a:pt x="8628931" y="0"/>
                </a:lnTo>
                <a:lnTo>
                  <a:pt x="8628931" y="8672292"/>
                </a:lnTo>
                <a:lnTo>
                  <a:pt x="0" y="86722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-722964" y="8918749"/>
            <a:ext cx="5554893" cy="5715271"/>
          </a:xfrm>
          <a:custGeom>
            <a:avLst/>
            <a:gdLst/>
            <a:ahLst/>
            <a:cxnLst/>
            <a:rect r="r" b="b" t="t" l="l"/>
            <a:pathLst>
              <a:path h="5715271" w="5554893">
                <a:moveTo>
                  <a:pt x="0" y="0"/>
                </a:moveTo>
                <a:lnTo>
                  <a:pt x="5554893" y="0"/>
                </a:lnTo>
                <a:lnTo>
                  <a:pt x="5554893" y="5715270"/>
                </a:lnTo>
                <a:lnTo>
                  <a:pt x="0" y="57152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90408" y="943465"/>
            <a:ext cx="5188690" cy="98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48"/>
              </a:lnSpc>
            </a:pPr>
            <a:r>
              <a:rPr lang="en-US" sz="6511">
                <a:solidFill>
                  <a:srgbClr val="F5EFE0"/>
                </a:solidFill>
                <a:latin typeface="Ahamono"/>
                <a:ea typeface="Ahamono"/>
                <a:cs typeface="Ahamono"/>
                <a:sym typeface="Ahamono"/>
              </a:rPr>
              <a:t>SATTVAMUNCH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48356" y="818653"/>
            <a:ext cx="735458" cy="1235138"/>
          </a:xfrm>
          <a:custGeom>
            <a:avLst/>
            <a:gdLst/>
            <a:ahLst/>
            <a:cxnLst/>
            <a:rect r="r" b="b" t="t" l="l"/>
            <a:pathLst>
              <a:path h="1235138" w="735458">
                <a:moveTo>
                  <a:pt x="0" y="0"/>
                </a:moveTo>
                <a:lnTo>
                  <a:pt x="735458" y="0"/>
                </a:lnTo>
                <a:lnTo>
                  <a:pt x="735458" y="1235138"/>
                </a:lnTo>
                <a:lnTo>
                  <a:pt x="0" y="1235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841" t="-21109" r="-72871" b="-2639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DAHTuvDcOL0</dc:identifier>
  <dcterms:modified xsi:type="dcterms:W3CDTF">2011-08-01T06:04:30Z</dcterms:modified>
  <cp:revision>1</cp:revision>
  <dc:title>SattvaMunch: Global Premium Identity</dc:title>
</cp:coreProperties>
</file>